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a:spAutoFit/>
          </a:bodyPr>
          <a:lstStyle/>
          <a:p>
            <a:pPr>
              <a:defRPr sz="1100" b="1">
                <a:solidFill>
                  <a:srgbClr val="B45309"/>
                </a:solidFill>
              </a:defRPr>
            </a:pPr>
            <a:r>
              <a:t>UNIVERSAL WISDOM • FOR EVERYONE, EVERYWHERE</a:t>
            </a:r>
          </a:p>
          <a:p>
            <a:pPr>
              <a:defRPr sz="2200" b="1">
                <a:solidFill>
                  <a:srgbClr val="0F172A"/>
                </a:solidFill>
                <a:latin typeface="Georgia"/>
              </a:defRPr>
            </a:pPr>
            <a:r>
              <a:t>Ancient Truths for Everyday Living, Overthinking &amp; Inner Calm</a:t>
            </a:r>
          </a:p>
        </p:txBody>
      </p:sp>
      <p:sp>
        <p:nvSpPr>
          <p:cNvPr id="4" name="Rounded Rectangle 3"/>
          <p:cNvSpPr/>
          <p:nvPr/>
        </p:nvSpPr>
        <p:spPr>
          <a:xfrm>
            <a:off x="731520" y="1508760"/>
            <a:ext cx="5120640" cy="4892040"/>
          </a:xfrm>
          <a:prstGeom prst="roundRect">
            <a:avLst/>
          </a:prstGeom>
          <a:solidFill>
            <a:srgbClr val="FFFFFF"/>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B45309"/>
                </a:solidFill>
              </a:defRPr>
            </a:pPr>
            <a:r>
              <a:t>UNIVERSAL INVOCATORY WISDOM • BG 18.78</a:t>
            </a:r>
          </a:p>
          <a:p>
            <a:pPr>
              <a:spcBef>
                <a:spcPts val="400"/>
              </a:spcBef>
              <a:defRPr sz="1200" b="1">
                <a:solidFill>
                  <a:srgbClr val="881337"/>
                </a:solidFill>
              </a:defRPr>
            </a:pPr>
            <a:r>
              <a:t>ॐ सह नाववतु । सह नौ भुनक्तु । सह वीर्यं करवावहै ।</a:t>
            </a:r>
            <a:br/>
            <a:r>
              <a:t>तेजस्वि नावधीतमस्तु मा विद्विषावहै ॥</a:t>
            </a:r>
            <a:br/>
            <a:r>
              <a:t>यत्र योगेश्वरः कृष्णो यत्र पार्थो धनुर्धरः तत्र श्रीर्विजयो भूतिर्ध्रुवा नीतिर्मतिर्मम ॥</a:t>
            </a:r>
          </a:p>
          <a:p>
            <a:pPr>
              <a:spcBef>
                <a:spcPts val="400"/>
              </a:spcBef>
              <a:defRPr sz="1100" i="1">
                <a:solidFill>
                  <a:srgbClr val="881337"/>
                </a:solidFill>
              </a:defRPr>
            </a:pPr>
            <a:r>
              <a:t>oṁ saha nāv avatu | saha nau bhunaktu | saha vīryaṁ karavāvahai ||</a:t>
            </a:r>
            <a:br/>
            <a:r>
              <a:t>yatra yogeśvaraḥ kṛṣṇo yatra pārtho dhanur-dharaḥ | tatra śrīr vijayo bhūtir dhruvā nītir matir mama ||</a:t>
            </a:r>
          </a:p>
          <a:p>
            <a:pPr>
              <a:spcBef>
                <a:spcPts val="400"/>
              </a:spcBef>
              <a:defRPr sz="950">
                <a:solidFill>
                  <a:srgbClr val="64748B"/>
                </a:solidFill>
              </a:defRPr>
            </a:pPr>
            <a:r>
              <a:t>Everyday Meaning: May we all be protected together. May we grow and nourish together. May we work with great energy. May our learning be illuminating, and may there never be hostility among us. Wherever clear wisdom and calm daily action stand together, there peace, prosperity, and joy reside.</a:t>
            </a:r>
          </a:p>
          <a:p>
            <a:pPr>
              <a:spcBef>
                <a:spcPts val="600"/>
              </a:spcBef>
              <a:defRPr sz="1100" b="1">
                <a:solidFill>
                  <a:srgbClr val="B45309"/>
                </a:solidFill>
              </a:defRPr>
            </a:pPr>
            <a:r>
              <a:t>Key Insight: Grounded Wisdom for Everyday Human Life</a:t>
            </a:r>
          </a:p>
          <a:p>
            <a:pPr>
              <a:spcBef>
                <a:spcPts val="400"/>
              </a:spcBef>
              <a:defRPr sz="1000">
                <a:solidFill>
                  <a:srgbClr val="334155"/>
                </a:solidFill>
              </a:defRPr>
            </a:pPr>
            <a:r>
              <a:t>No matter your background, age, or profession, life brings shared human experiences: moments of worry, fatigue, self-doubt, relationship friction, and the search for peace. You don't need a complex philosophy to live well. You only need simple, timeless practices to stay calm, kind, and steady through life's ups and downs.</a:t>
            </a:r>
          </a:p>
        </p:txBody>
      </p:sp>
      <p:sp>
        <p:nvSpPr>
          <p:cNvPr id="5" name="Rounded Rectangle 4"/>
          <p:cNvSpPr/>
          <p:nvPr/>
        </p:nvSpPr>
        <p:spPr>
          <a:xfrm>
            <a:off x="6217920" y="1508760"/>
            <a:ext cx="5212080" cy="48920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B45309"/>
                </a:solidFill>
              </a:defRPr>
            </a:pPr>
            <a:r>
              <a:t>SIMPLE DAILY PRACTICE</a:t>
            </a:r>
          </a:p>
          <a:p>
            <a:pPr>
              <a:spcBef>
                <a:spcPts val="800"/>
              </a:spcBef>
              <a:defRPr sz="1100">
                <a:solidFill>
                  <a:srgbClr val="334155"/>
                </a:solidFill>
              </a:defRPr>
            </a:pPr>
            <a:r>
              <a:t>The 3 Universal Daily Anchors:</a:t>
            </a:r>
            <a:br/>
            <a:r>
              <a:t>1. Start With Calm: Spend 3 quiet minutes each morning before checking your phone.</a:t>
            </a:r>
            <a:br/>
            <a:r>
              <a:t>2. Do Your Best, Release the Rest: Put love and care into what you do; let go of things outside your control.</a:t>
            </a:r>
            <a:br/>
            <a:r>
              <a:t>3. Be Kind to Yourself: Treat your mind like a friend, not an enemy.</a:t>
            </a:r>
          </a:p>
          <a:p>
            <a:pPr>
              <a:spcBef>
                <a:spcPts val="1400"/>
              </a:spcBef>
              <a:defRPr sz="1200" b="1">
                <a:solidFill>
                  <a:srgbClr val="881337"/>
                </a:solidFill>
              </a:defRPr>
            </a:pPr>
            <a:r>
              <a:t>🌱 DAILY REMINDER:</a:t>
            </a:r>
            <a:br/>
            <a:r>
              <a:t>You do not have to have everything figured out to live with peace and dignity today.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a:spAutoFit/>
          </a:bodyPr>
          <a:lstStyle/>
          <a:p>
            <a:pPr>
              <a:defRPr sz="1100" b="1">
                <a:solidFill>
                  <a:srgbClr val="B45309"/>
                </a:solidFill>
              </a:defRPr>
            </a:pPr>
            <a:r>
              <a:t>UNDERSTANDING OUR COMMON STRUGGLES</a:t>
            </a:r>
          </a:p>
          <a:p>
            <a:pPr>
              <a:defRPr sz="2200" b="1">
                <a:solidFill>
                  <a:srgbClr val="0F172A"/>
                </a:solidFill>
                <a:latin typeface="Georgia"/>
              </a:defRPr>
            </a:pPr>
            <a:r>
              <a:t>When Life Feels Overwhelming (You Are Not Alone)</a:t>
            </a:r>
          </a:p>
        </p:txBody>
      </p:sp>
      <p:sp>
        <p:nvSpPr>
          <p:cNvPr id="4" name="Rounded Rectangle 3"/>
          <p:cNvSpPr/>
          <p:nvPr/>
        </p:nvSpPr>
        <p:spPr>
          <a:xfrm>
            <a:off x="731520" y="1508760"/>
            <a:ext cx="5120640" cy="4892040"/>
          </a:xfrm>
          <a:prstGeom prst="roundRect">
            <a:avLst/>
          </a:prstGeom>
          <a:solidFill>
            <a:srgbClr val="FFFFFF"/>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B45309"/>
                </a:solidFill>
              </a:defRPr>
            </a:pPr>
            <a:r>
              <a:t>BHAGAVAD GITA 1.28 &amp; 2.11</a:t>
            </a:r>
          </a:p>
          <a:p>
            <a:pPr>
              <a:spcBef>
                <a:spcPts val="400"/>
              </a:spcBef>
              <a:defRPr sz="1200" b="1">
                <a:solidFill>
                  <a:srgbClr val="881337"/>
                </a:solidFill>
              </a:defRPr>
            </a:pPr>
            <a:r>
              <a:t>सीदन्ति मम गात्राणि मुखं च परिशुष्यति ।</a:t>
            </a:r>
            <a:br/>
            <a:r>
              <a:t>अशोच्यानन्वशोचस्त्वं प्रज्ञावादांश्च भाषसे ॥</a:t>
            </a:r>
          </a:p>
          <a:p>
            <a:pPr>
              <a:spcBef>
                <a:spcPts val="400"/>
              </a:spcBef>
              <a:defRPr sz="1100" i="1">
                <a:solidFill>
                  <a:srgbClr val="881337"/>
                </a:solidFill>
              </a:defRPr>
            </a:pPr>
            <a:r>
              <a:t>sīdanti mama gātrāṇi mukhaṁ ca pariśuṣyati || aśocyān anvaśocas tvaṁ prajñā-vādāṁś ca bhāṣase ||</a:t>
            </a:r>
          </a:p>
          <a:p>
            <a:pPr>
              <a:spcBef>
                <a:spcPts val="400"/>
              </a:spcBef>
              <a:defRPr sz="950">
                <a:solidFill>
                  <a:srgbClr val="64748B"/>
                </a:solidFill>
              </a:defRPr>
            </a:pPr>
            <a:r>
              <a:t>Everyday Meaning: My limbs feel weak, my mouth is dry, and my mind is whirling. You are grieving for that which does not deserve your sorrow, though you speak words that seem reasonable.</a:t>
            </a:r>
          </a:p>
          <a:p>
            <a:pPr>
              <a:spcBef>
                <a:spcPts val="600"/>
              </a:spcBef>
              <a:defRPr sz="1100" b="1">
                <a:solidFill>
                  <a:srgbClr val="B45309"/>
                </a:solidFill>
              </a:defRPr>
            </a:pPr>
            <a:r>
              <a:t>Key Insight: Overcoming Everyday Stress &amp; Emotional Overload</a:t>
            </a:r>
          </a:p>
          <a:p>
            <a:pPr>
              <a:spcBef>
                <a:spcPts val="400"/>
              </a:spcBef>
              <a:defRPr sz="1000">
                <a:solidFill>
                  <a:srgbClr val="334155"/>
                </a:solidFill>
              </a:defRPr>
            </a:pPr>
            <a:r>
              <a:t>Everyone experiences days when responsibilities feel too heavy—whether caring for family, managing finances, studying for exams, or coping with work pressure. Feeling tired or anxious does not mean you are failing; it simply means your nervous system is asking for care and stillness.</a:t>
            </a:r>
          </a:p>
        </p:txBody>
      </p:sp>
      <p:sp>
        <p:nvSpPr>
          <p:cNvPr id="5" name="Rounded Rectangle 4"/>
          <p:cNvSpPr/>
          <p:nvPr/>
        </p:nvSpPr>
        <p:spPr>
          <a:xfrm>
            <a:off x="6217920" y="1508760"/>
            <a:ext cx="5212080" cy="48920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B45309"/>
                </a:solidFill>
              </a:defRPr>
            </a:pPr>
            <a:r>
              <a:t>SIMPLE DAILY PRACTICE</a:t>
            </a:r>
          </a:p>
          <a:p>
            <a:pPr>
              <a:spcBef>
                <a:spcPts val="800"/>
              </a:spcBef>
              <a:defRPr sz="1100">
                <a:solidFill>
                  <a:srgbClr val="334155"/>
                </a:solidFill>
              </a:defRPr>
            </a:pPr>
            <a:r>
              <a:t>How to Reset When Overwhelmed:</a:t>
            </a:r>
            <a:br/>
            <a:r>
              <a:t>1. Pause and Take 3 Deep Breaths: Inhale gently through your nose, exhale slowly through your mouth.</a:t>
            </a:r>
            <a:br/>
            <a:r>
              <a:t>2. Name One Simple Thing: What is just one small helpful thing you can do in the next 10 minutes?</a:t>
            </a:r>
            <a:br/>
            <a:r>
              <a:t>3. Lower the Pressure: Remind yourself that one hard day does not define your life.</a:t>
            </a:r>
          </a:p>
          <a:p>
            <a:pPr>
              <a:spcBef>
                <a:spcPts val="1400"/>
              </a:spcBef>
              <a:defRPr sz="1200" b="1">
                <a:solidFill>
                  <a:srgbClr val="881337"/>
                </a:solidFill>
              </a:defRPr>
            </a:pPr>
            <a:r>
              <a:t>🌱 DAILY REMINDER:</a:t>
            </a:r>
            <a:br/>
            <a:r>
              <a:t>When you feel overwhelmed, do not look at the whole mountain. Just take the next single step.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a:spAutoFit/>
          </a:bodyPr>
          <a:lstStyle/>
          <a:p>
            <a:pPr>
              <a:defRPr sz="1100" b="1">
                <a:solidFill>
                  <a:srgbClr val="0369A1"/>
                </a:solidFill>
              </a:defRPr>
            </a:pPr>
            <a:r>
              <a:t>MODULE 1 • SKY BLUE — CALMING AN OVERACTIVE MIND</a:t>
            </a:r>
          </a:p>
          <a:p>
            <a:pPr>
              <a:defRPr sz="2200" b="1">
                <a:solidFill>
                  <a:srgbClr val="0F172A"/>
                </a:solidFill>
                <a:latin typeface="Georgia"/>
              </a:defRPr>
            </a:pPr>
            <a:r>
              <a:t>Quieting Racing Thoughts &amp; Worry</a:t>
            </a:r>
          </a:p>
        </p:txBody>
      </p:sp>
      <p:sp>
        <p:nvSpPr>
          <p:cNvPr id="4" name="Rounded Rectangle 3"/>
          <p:cNvSpPr/>
          <p:nvPr/>
        </p:nvSpPr>
        <p:spPr>
          <a:xfrm>
            <a:off x="731520" y="1508760"/>
            <a:ext cx="5120640" cy="4892040"/>
          </a:xfrm>
          <a:prstGeom prst="roundRect">
            <a:avLst/>
          </a:prstGeom>
          <a:solidFill>
            <a:srgbClr val="FFFFFF"/>
          </a:solidFill>
          <a:ln w="1905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369A1"/>
                </a:solidFill>
              </a:defRPr>
            </a:pPr>
            <a:r>
              <a:t>BHAGAVAD GITA 6.35 &amp; 2.62–63</a:t>
            </a:r>
          </a:p>
          <a:p>
            <a:pPr>
              <a:spcBef>
                <a:spcPts val="400"/>
              </a:spcBef>
              <a:defRPr sz="1200" b="1">
                <a:solidFill>
                  <a:srgbClr val="881337"/>
                </a:solidFill>
              </a:defRPr>
            </a:pPr>
            <a:r>
              <a:t>असंशयं महाबाहो मनो दुर्निग्रहं चलम् । अभ्यासेन तु कौन्तेय वैराग्येण च गृह्यते ॥</a:t>
            </a:r>
          </a:p>
          <a:p>
            <a:pPr>
              <a:spcBef>
                <a:spcPts val="400"/>
              </a:spcBef>
              <a:defRPr sz="1100" i="1">
                <a:solidFill>
                  <a:srgbClr val="881337"/>
                </a:solidFill>
              </a:defRPr>
            </a:pPr>
            <a:r>
              <a:t>asaṁśayaṁ mahā-bāho mano durnigrahaṁ calam | abhyāsena tu kaunteya vairāgyeṇa ca gṛhyate ||</a:t>
            </a:r>
          </a:p>
          <a:p>
            <a:pPr>
              <a:spcBef>
                <a:spcPts val="400"/>
              </a:spcBef>
              <a:defRPr sz="950">
                <a:solidFill>
                  <a:srgbClr val="64748B"/>
                </a:solidFill>
              </a:defRPr>
            </a:pPr>
            <a:r>
              <a:t>Everyday Meaning: Without doubt, the mind is restless and easily swayed. But through gentle daily practice and letting go of unnecessary worry, it becomes calm and clear.</a:t>
            </a:r>
          </a:p>
          <a:p>
            <a:pPr>
              <a:spcBef>
                <a:spcPts val="600"/>
              </a:spcBef>
              <a:defRPr sz="1100" b="1">
                <a:solidFill>
                  <a:srgbClr val="B45309"/>
                </a:solidFill>
              </a:defRPr>
            </a:pPr>
            <a:r>
              <a:t>Key Insight: Quieting 'What-If' Thinking &amp; Finding Stillness</a:t>
            </a:r>
          </a:p>
          <a:p>
            <a:pPr>
              <a:spcBef>
                <a:spcPts val="400"/>
              </a:spcBef>
              <a:defRPr sz="1000">
                <a:solidFill>
                  <a:srgbClr val="334155"/>
                </a:solidFill>
              </a:defRPr>
            </a:pPr>
            <a:r>
              <a:t>Worrying feels like solving a problem, but it usually just tires you out. A fearful thought is just a passing cloud in your mind—it is not a prediction of the future. You don't have to believe every anxious thought your mind creates.</a:t>
            </a:r>
          </a:p>
        </p:txBody>
      </p:sp>
      <p:sp>
        <p:nvSpPr>
          <p:cNvPr id="5" name="Rounded Rectangle 4"/>
          <p:cNvSpPr/>
          <p:nvPr/>
        </p:nvSpPr>
        <p:spPr>
          <a:xfrm>
            <a:off x="6217920" y="1508760"/>
            <a:ext cx="5212080" cy="48920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B45309"/>
                </a:solidFill>
              </a:defRPr>
            </a:pPr>
            <a:r>
              <a:t>SIMPLE DAILY PRACTICE</a:t>
            </a:r>
          </a:p>
          <a:p>
            <a:pPr>
              <a:spcBef>
                <a:spcPts val="800"/>
              </a:spcBef>
              <a:defRPr sz="1100">
                <a:solidFill>
                  <a:srgbClr val="334155"/>
                </a:solidFill>
              </a:defRPr>
            </a:pPr>
            <a:r>
              <a:t>The Gentle Thought-Release Protocol:</a:t>
            </a:r>
            <a:br/>
            <a:r>
              <a:t>1. Notice Without Panic: Say: 'I notice my mind is imagining worst-case stories.'</a:t>
            </a:r>
            <a:br/>
            <a:r>
              <a:t>2. The Reality Check: Ask: 'Is this happening right now in front of me, or only in my head?'</a:t>
            </a:r>
            <a:br/>
            <a:r>
              <a:t>3. Return to the Senses: Feel your feet on the ground, hear the sounds around you, and breathe.</a:t>
            </a:r>
          </a:p>
          <a:p>
            <a:pPr>
              <a:spcBef>
                <a:spcPts val="1400"/>
              </a:spcBef>
              <a:defRPr sz="1200" b="1">
                <a:solidFill>
                  <a:srgbClr val="881337"/>
                </a:solidFill>
              </a:defRPr>
            </a:pPr>
            <a:r>
              <a:t>🌱 DAILY REMINDER:</a:t>
            </a:r>
            <a:br/>
            <a:r>
              <a:t>When your mind asks: 'What if everything goes wrong?', answer: 'What if things turn out okay?'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a:spAutoFit/>
          </a:bodyPr>
          <a:lstStyle/>
          <a:p>
            <a:pPr>
              <a:defRPr sz="1100" b="1">
                <a:solidFill>
                  <a:srgbClr val="0369A1"/>
                </a:solidFill>
              </a:defRPr>
            </a:pPr>
            <a:r>
              <a:t>MODULE 1 • SKY BLUE — CALMING AN OVERACTIVE MIND</a:t>
            </a:r>
          </a:p>
          <a:p>
            <a:pPr>
              <a:defRPr sz="2200" b="1">
                <a:solidFill>
                  <a:srgbClr val="0F172A"/>
                </a:solidFill>
                <a:latin typeface="Georgia"/>
              </a:defRPr>
            </a:pPr>
            <a:r>
              <a:t>Riding the Waves of Life with Calm</a:t>
            </a:r>
          </a:p>
        </p:txBody>
      </p:sp>
      <p:sp>
        <p:nvSpPr>
          <p:cNvPr id="4" name="Rounded Rectangle 3"/>
          <p:cNvSpPr/>
          <p:nvPr/>
        </p:nvSpPr>
        <p:spPr>
          <a:xfrm>
            <a:off x="731520" y="1508760"/>
            <a:ext cx="5120640" cy="4892040"/>
          </a:xfrm>
          <a:prstGeom prst="roundRect">
            <a:avLst/>
          </a:prstGeom>
          <a:solidFill>
            <a:srgbClr val="FFFFFF"/>
          </a:solidFill>
          <a:ln w="19050">
            <a:solidFill>
              <a:srgbClr val="0369A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369A1"/>
                </a:solidFill>
              </a:defRPr>
            </a:pPr>
            <a:r>
              <a:t>BHAGAVAD GITA 2.14 &amp; 6.19</a:t>
            </a:r>
          </a:p>
          <a:p>
            <a:pPr>
              <a:spcBef>
                <a:spcPts val="400"/>
              </a:spcBef>
              <a:defRPr sz="1200" b="1">
                <a:solidFill>
                  <a:srgbClr val="881337"/>
                </a:solidFill>
              </a:defRPr>
            </a:pPr>
            <a:r>
              <a:t>मात्रास्पर्शास्तु कौन्तेय शीतोष्णसुखदुःखदाः । आगमापायिनोऽनित्यास्तांस्तितिक्षस्व भारत ॥</a:t>
            </a:r>
            <a:br/>
            <a:r>
              <a:t>यथा दीपो निवातस्थो नेङ्गते सोपमा स्मृता ॥</a:t>
            </a:r>
          </a:p>
          <a:p>
            <a:pPr>
              <a:spcBef>
                <a:spcPts val="400"/>
              </a:spcBef>
              <a:defRPr sz="1100" i="1">
                <a:solidFill>
                  <a:srgbClr val="881337"/>
                </a:solidFill>
              </a:defRPr>
            </a:pPr>
            <a:r>
              <a:t>mātrā-sparśās tu kaunteya śītoṣṇa-sukha-duḥkha-dāḥ | āgamāpāyino 'nityās tāṁs titikṣasva bhārata ||</a:t>
            </a:r>
            <a:br/>
            <a:r>
              <a:t>yathā dīpo nivāta-stho neṅgate sopamā smṛtā ||</a:t>
            </a:r>
          </a:p>
          <a:p>
            <a:pPr>
              <a:spcBef>
                <a:spcPts val="400"/>
              </a:spcBef>
              <a:defRPr sz="950">
                <a:solidFill>
                  <a:srgbClr val="64748B"/>
                </a:solidFill>
              </a:defRPr>
            </a:pPr>
            <a:r>
              <a:t>Everyday Meaning: Pleasant and difficult moments come and go like seasons of winter and summer. Learn to meet both with patience. Like a steady candle flame in a windless room, keep your inner spirit undisturbed.</a:t>
            </a:r>
          </a:p>
          <a:p>
            <a:pPr>
              <a:spcBef>
                <a:spcPts val="600"/>
              </a:spcBef>
              <a:defRPr sz="1100" b="1">
                <a:solidFill>
                  <a:srgbClr val="B45309"/>
                </a:solidFill>
              </a:defRPr>
            </a:pPr>
            <a:r>
              <a:t>Key Insight: Emotional Weather vs. Inner Peace</a:t>
            </a:r>
          </a:p>
          <a:p>
            <a:pPr>
              <a:spcBef>
                <a:spcPts val="400"/>
              </a:spcBef>
              <a:defRPr sz="1000">
                <a:solidFill>
                  <a:srgbClr val="334155"/>
                </a:solidFill>
              </a:defRPr>
            </a:pPr>
            <a:r>
              <a:t>Some days are sunny, others are rainy. You don't try to fight the rain—you open an umbrella and wait for the sky to clear. Difficult emotions are the same; allow them to pass through you without thinking you are ruined.</a:t>
            </a:r>
          </a:p>
        </p:txBody>
      </p:sp>
      <p:sp>
        <p:nvSpPr>
          <p:cNvPr id="5" name="Rounded Rectangle 4"/>
          <p:cNvSpPr/>
          <p:nvPr/>
        </p:nvSpPr>
        <p:spPr>
          <a:xfrm>
            <a:off x="6217920" y="1508760"/>
            <a:ext cx="5212080" cy="48920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B45309"/>
                </a:solidFill>
              </a:defRPr>
            </a:pPr>
            <a:r>
              <a:t>SIMPLE DAILY PRACTICE</a:t>
            </a:r>
          </a:p>
          <a:p>
            <a:pPr>
              <a:spcBef>
                <a:spcPts val="800"/>
              </a:spcBef>
              <a:defRPr sz="1100">
                <a:solidFill>
                  <a:srgbClr val="334155"/>
                </a:solidFill>
              </a:defRPr>
            </a:pPr>
            <a:r>
              <a:t>The Steady Candle Practice:</a:t>
            </a:r>
            <a:br/>
            <a:r>
              <a:t>1. Let Bad Moods Pass: Give yourself permission to have an off day without judging yourself.</a:t>
            </a:r>
            <a:br/>
            <a:r>
              <a:t>2. Turn Down Mental Noise: Step away from social media feeds that make you feel hurried.</a:t>
            </a:r>
            <a:br/>
            <a:r>
              <a:t>3. Protect Your Morning: Give yourself 10 peaceful minutes before beginning daily chores.</a:t>
            </a:r>
          </a:p>
          <a:p>
            <a:pPr>
              <a:spcBef>
                <a:spcPts val="1400"/>
              </a:spcBef>
              <a:defRPr sz="1200" b="1">
                <a:solidFill>
                  <a:srgbClr val="881337"/>
                </a:solidFill>
              </a:defRPr>
            </a:pPr>
            <a:r>
              <a:t>🌱 DAILY REMINDER:</a:t>
            </a:r>
            <a:br/>
            <a:r>
              <a:t>Feelings are like passing clouds. You are the vast, open sky behind them.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a:spAutoFit/>
          </a:bodyPr>
          <a:lstStyle/>
          <a:p>
            <a:pPr>
              <a:defRPr sz="1100" b="1">
                <a:solidFill>
                  <a:srgbClr val="047857"/>
                </a:solidFill>
              </a:defRPr>
            </a:pPr>
            <a:r>
              <a:t>MODULE 2 • EMERALD GREEN — PEACE &amp; CONTENTMENT</a:t>
            </a:r>
          </a:p>
          <a:p>
            <a:pPr>
              <a:defRPr sz="2200" b="1">
                <a:solidFill>
                  <a:srgbClr val="0F172A"/>
                </a:solidFill>
                <a:latin typeface="Georgia"/>
              </a:defRPr>
            </a:pPr>
            <a:r>
              <a:t>The Ocean Mind (Not Everything is an Emergency)</a:t>
            </a:r>
          </a:p>
        </p:txBody>
      </p:sp>
      <p:sp>
        <p:nvSpPr>
          <p:cNvPr id="4" name="Rounded Rectangle 3"/>
          <p:cNvSpPr/>
          <p:nvPr/>
        </p:nvSpPr>
        <p:spPr>
          <a:xfrm>
            <a:off x="731520" y="1508760"/>
            <a:ext cx="5120640" cy="4892040"/>
          </a:xfrm>
          <a:prstGeom prst="roundRect">
            <a:avLst/>
          </a:prstGeom>
          <a:solidFill>
            <a:srgbClr val="FFFFFF"/>
          </a:solidFill>
          <a:ln w="1905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47857"/>
                </a:solidFill>
              </a:defRPr>
            </a:pPr>
            <a:r>
              <a:t>BHAGAVAD GITA 2.70 &amp; 2.47</a:t>
            </a:r>
          </a:p>
          <a:p>
            <a:pPr>
              <a:spcBef>
                <a:spcPts val="400"/>
              </a:spcBef>
              <a:defRPr sz="1200" b="1">
                <a:solidFill>
                  <a:srgbClr val="881337"/>
                </a:solidFill>
              </a:defRPr>
            </a:pPr>
            <a:r>
              <a:t>आपूर्यमाणमचलप्रतिष्ठं समुद्रमापः प्रविशन्ति यद्वत् । तद्वत्कामा यं प्रविशन्ति सर्वे स शान्तिमाप्नोति न कामकामी ॥</a:t>
            </a:r>
            <a:br/>
            <a:r>
              <a:t>कर्मण्येवाधिकारस्ते मा फलेषु कदाचन ॥</a:t>
            </a:r>
          </a:p>
          <a:p>
            <a:pPr>
              <a:spcBef>
                <a:spcPts val="400"/>
              </a:spcBef>
              <a:defRPr sz="1100" i="1">
                <a:solidFill>
                  <a:srgbClr val="881337"/>
                </a:solidFill>
              </a:defRPr>
            </a:pPr>
            <a:r>
              <a:t>āpūryamāṇam acala-pratiṣṭhaṁ samudram āpaḥ praviśanti yadvat | tadvat kāmā yaṁ praviśanti sarve sa śāntim āpnoti ||</a:t>
            </a:r>
            <a:br/>
            <a:r>
              <a:t>karmaṇy evādhikāras te mā phaleṣu kadācana ||</a:t>
            </a:r>
          </a:p>
          <a:p>
            <a:pPr>
              <a:spcBef>
                <a:spcPts val="400"/>
              </a:spcBef>
              <a:defRPr sz="950">
                <a:solidFill>
                  <a:srgbClr val="64748B"/>
                </a:solidFill>
              </a:defRPr>
            </a:pPr>
            <a:r>
              <a:t>Everyday Meaning: Just as the ocean remains deep, quiet, and peaceful even while rivers flow into it, one who stays steady through life's daily demands finds lasting peace. Focus on doing your best in your duties, without obsessing over the final outcome.</a:t>
            </a:r>
          </a:p>
          <a:p>
            <a:pPr>
              <a:spcBef>
                <a:spcPts val="600"/>
              </a:spcBef>
              <a:defRPr sz="1100" b="1">
                <a:solidFill>
                  <a:srgbClr val="B45309"/>
                </a:solidFill>
              </a:defRPr>
            </a:pPr>
            <a:r>
              <a:t>Key Insight: Releasing Outcome Anxiety &amp; Living in the Present</a:t>
            </a:r>
          </a:p>
          <a:p>
            <a:pPr>
              <a:spcBef>
                <a:spcPts val="400"/>
              </a:spcBef>
              <a:defRPr sz="1000">
                <a:solidFill>
                  <a:srgbClr val="334155"/>
                </a:solidFill>
              </a:defRPr>
            </a:pPr>
            <a:r>
              <a:t>When we expect life to be 100% predictable, we get stressed by every small delay, traffic jam, or misunderstanding. When you act with sincerity and leave the results to time, a deep wave of relief enters your chest.</a:t>
            </a:r>
          </a:p>
        </p:txBody>
      </p:sp>
      <p:sp>
        <p:nvSpPr>
          <p:cNvPr id="5" name="Rounded Rectangle 4"/>
          <p:cNvSpPr/>
          <p:nvPr/>
        </p:nvSpPr>
        <p:spPr>
          <a:xfrm>
            <a:off x="6217920" y="1508760"/>
            <a:ext cx="5212080" cy="48920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B45309"/>
                </a:solidFill>
              </a:defRPr>
            </a:pPr>
            <a:r>
              <a:t>SIMPLE DAILY PRACTICE</a:t>
            </a:r>
          </a:p>
          <a:p>
            <a:pPr>
              <a:spcBef>
                <a:spcPts val="800"/>
              </a:spcBef>
              <a:defRPr sz="1100">
                <a:solidFill>
                  <a:srgbClr val="334155"/>
                </a:solidFill>
              </a:defRPr>
            </a:pPr>
            <a:r>
              <a:t>The Daily Peace Practice:</a:t>
            </a:r>
            <a:br/>
            <a:r>
              <a:t>1. Control Your Input: Put 100% honesty and care into what is right in front of you.</a:t>
            </a:r>
            <a:br/>
            <a:r>
              <a:t>2. Release the Scoreboard: Don't stress about things you cannot control.</a:t>
            </a:r>
            <a:br/>
            <a:r>
              <a:t>3. Take Time to Pause: Rest between tasks so you don't carry morning stress into dinner.</a:t>
            </a:r>
          </a:p>
          <a:p>
            <a:pPr>
              <a:spcBef>
                <a:spcPts val="1400"/>
              </a:spcBef>
              <a:defRPr sz="1200" b="1">
                <a:solidFill>
                  <a:srgbClr val="881337"/>
                </a:solidFill>
              </a:defRPr>
            </a:pPr>
            <a:r>
              <a:t>🌱 DAILY REMINDER:</a:t>
            </a:r>
            <a:br/>
            <a:r>
              <a:t>Do what you can with what you have today, then let go and sleep with a clear heart.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a:spAutoFit/>
          </a:bodyPr>
          <a:lstStyle/>
          <a:p>
            <a:pPr>
              <a:defRPr sz="1100" b="1">
                <a:solidFill>
                  <a:srgbClr val="047857"/>
                </a:solidFill>
              </a:defRPr>
            </a:pPr>
            <a:r>
              <a:t>MODULE 2 • EMERALD GREEN — PEACE &amp; CONTENTMENT</a:t>
            </a:r>
          </a:p>
          <a:p>
            <a:pPr>
              <a:defRPr sz="2200" b="1">
                <a:solidFill>
                  <a:srgbClr val="0F172A"/>
                </a:solidFill>
                <a:latin typeface="Georgia"/>
              </a:defRPr>
            </a:pPr>
            <a:r>
              <a:t>Healthy Balance: Work, Rest, and Joy</a:t>
            </a:r>
          </a:p>
        </p:txBody>
      </p:sp>
      <p:sp>
        <p:nvSpPr>
          <p:cNvPr id="4" name="Rounded Rectangle 3"/>
          <p:cNvSpPr/>
          <p:nvPr/>
        </p:nvSpPr>
        <p:spPr>
          <a:xfrm>
            <a:off x="731520" y="1508760"/>
            <a:ext cx="5120640" cy="4892040"/>
          </a:xfrm>
          <a:prstGeom prst="roundRect">
            <a:avLst/>
          </a:prstGeom>
          <a:solidFill>
            <a:srgbClr val="FFFFFF"/>
          </a:solidFill>
          <a:ln w="19050">
            <a:solidFill>
              <a:srgbClr val="04785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47857"/>
                </a:solidFill>
              </a:defRPr>
            </a:pPr>
            <a:r>
              <a:t>BHAGAVAD GITA 6.17 &amp; 4.18 &amp; 5.10</a:t>
            </a:r>
          </a:p>
          <a:p>
            <a:pPr>
              <a:spcBef>
                <a:spcPts val="400"/>
              </a:spcBef>
              <a:defRPr sz="1200" b="1">
                <a:solidFill>
                  <a:srgbClr val="881337"/>
                </a:solidFill>
              </a:defRPr>
            </a:pPr>
            <a:r>
              <a:t>युक्ताहारविहारस्य युक्तचेष्टस्य कर्मसु । युक्तस्वप्नावबोधस्य योगो भवति दुःखहा ॥</a:t>
            </a:r>
            <a:br/>
            <a:r>
              <a:t>पद्मपत्रमिवाम्भसा ॥</a:t>
            </a:r>
          </a:p>
          <a:p>
            <a:pPr>
              <a:spcBef>
                <a:spcPts val="400"/>
              </a:spcBef>
              <a:defRPr sz="1100" i="1">
                <a:solidFill>
                  <a:srgbClr val="881337"/>
                </a:solidFill>
              </a:defRPr>
            </a:pPr>
            <a:r>
              <a:t>yuktāhāra-vihārasya yukta-ceṣṭasya karmasu | yukta-svapnāvabodhasya yogo bhavati duḥkha-hā ||</a:t>
            </a:r>
            <a:br/>
            <a:r>
              <a:t>padma-patram ivāmbhasā ||</a:t>
            </a:r>
          </a:p>
          <a:p>
            <a:pPr>
              <a:spcBef>
                <a:spcPts val="400"/>
              </a:spcBef>
              <a:defRPr sz="950">
                <a:solidFill>
                  <a:srgbClr val="64748B"/>
                </a:solidFill>
              </a:defRPr>
            </a:pPr>
            <a:r>
              <a:t>Everyday Meaning: For one who is balanced in eating, recreation, working, and sleep, peaceful living removes all sorrow. Live in the world like a lotus leaf in water—fully alive, yet untouched by muddy water.</a:t>
            </a:r>
          </a:p>
          <a:p>
            <a:pPr>
              <a:spcBef>
                <a:spcPts val="600"/>
              </a:spcBef>
              <a:defRPr sz="1100" b="1">
                <a:solidFill>
                  <a:srgbClr val="B45309"/>
                </a:solidFill>
              </a:defRPr>
            </a:pPr>
            <a:r>
              <a:t>Key Insight: Rest as a Sacred Human Need</a:t>
            </a:r>
          </a:p>
          <a:p>
            <a:pPr>
              <a:spcBef>
                <a:spcPts val="400"/>
              </a:spcBef>
              <a:defRPr sz="1000">
                <a:solidFill>
                  <a:srgbClr val="334155"/>
                </a:solidFill>
              </a:defRPr>
            </a:pPr>
            <a:r>
              <a:t>You are a human being, not a machine. Burning yourself out does not make you a better worker, parent, or partner. Taking rest, sharing a laugh with loved ones, and having good food are sacred parts of a good life.</a:t>
            </a:r>
          </a:p>
        </p:txBody>
      </p:sp>
      <p:sp>
        <p:nvSpPr>
          <p:cNvPr id="5" name="Rounded Rectangle 4"/>
          <p:cNvSpPr/>
          <p:nvPr/>
        </p:nvSpPr>
        <p:spPr>
          <a:xfrm>
            <a:off x="6217920" y="1508760"/>
            <a:ext cx="5212080" cy="48920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B45309"/>
                </a:solidFill>
              </a:defRPr>
            </a:pPr>
            <a:r>
              <a:t>SIMPLE DAILY PRACTICE</a:t>
            </a:r>
          </a:p>
          <a:p>
            <a:pPr>
              <a:spcBef>
                <a:spcPts val="800"/>
              </a:spcBef>
              <a:defRPr sz="1100">
                <a:solidFill>
                  <a:srgbClr val="334155"/>
                </a:solidFill>
              </a:defRPr>
            </a:pPr>
            <a:r>
              <a:t>The Balanced Living Guide:</a:t>
            </a:r>
            <a:br/>
            <a:r>
              <a:t>1. Protect Your Sleep: Good sleep is the foundation of emotional patience and health.</a:t>
            </a:r>
            <a:br/>
            <a:r>
              <a:t>2. Make Time for Simple Pleasures: Sip warm tea, listen to music, or sit in the sunlight.</a:t>
            </a:r>
            <a:br/>
            <a:r>
              <a:t>3. The Lotus Mind: Let negative comments roll off you like water droplets on a lotus leaf.</a:t>
            </a:r>
          </a:p>
          <a:p>
            <a:pPr>
              <a:spcBef>
                <a:spcPts val="1400"/>
              </a:spcBef>
              <a:defRPr sz="1200" b="1">
                <a:solidFill>
                  <a:srgbClr val="881337"/>
                </a:solidFill>
              </a:defRPr>
            </a:pPr>
            <a:r>
              <a:t>🌱 DAILY REMINDER:</a:t>
            </a:r>
            <a:br/>
            <a:r>
              <a:t>Rest is not laziness. Rest is how you recharge your ability to be kind and capable.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a:spAutoFit/>
          </a:bodyPr>
          <a:lstStyle/>
          <a:p>
            <a:pPr>
              <a:defRPr sz="1100" b="1">
                <a:solidFill>
                  <a:srgbClr val="B45309"/>
                </a:solidFill>
              </a:defRPr>
            </a:pPr>
            <a:r>
              <a:t>MODULE 3 • BRIGHT YELLOW — OVERCOMING LAZINESS &amp; TAKING ACTION</a:t>
            </a:r>
          </a:p>
          <a:p>
            <a:pPr>
              <a:defRPr sz="2200" b="1">
                <a:solidFill>
                  <a:srgbClr val="0F172A"/>
                </a:solidFill>
                <a:latin typeface="Georgia"/>
              </a:defRPr>
            </a:pPr>
            <a:r>
              <a:t>Starting Small: How Motion Creates Motivation</a:t>
            </a:r>
          </a:p>
        </p:txBody>
      </p:sp>
      <p:sp>
        <p:nvSpPr>
          <p:cNvPr id="4" name="Rounded Rectangle 3"/>
          <p:cNvSpPr/>
          <p:nvPr/>
        </p:nvSpPr>
        <p:spPr>
          <a:xfrm>
            <a:off x="731520" y="1508760"/>
            <a:ext cx="5120640" cy="4892040"/>
          </a:xfrm>
          <a:prstGeom prst="roundRect">
            <a:avLst/>
          </a:prstGeom>
          <a:solidFill>
            <a:srgbClr val="FFFFFF"/>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B45309"/>
                </a:solidFill>
              </a:defRPr>
            </a:pPr>
            <a:r>
              <a:t>BHAGAVAD GITA 3.8 &amp; 18.37</a:t>
            </a:r>
          </a:p>
          <a:p>
            <a:pPr>
              <a:spcBef>
                <a:spcPts val="400"/>
              </a:spcBef>
              <a:defRPr sz="1200" b="1">
                <a:solidFill>
                  <a:srgbClr val="881337"/>
                </a:solidFill>
              </a:defRPr>
            </a:pPr>
            <a:r>
              <a:t>नियतं कुरु कर्म त्वं कर्म ज्यायो ह्यकर्मणः ।</a:t>
            </a:r>
            <a:br/>
            <a:r>
              <a:t>यत्तदग्रे विषमिव परिणामेऽमृतोपमम् । तत्सुखं सात्त्विकं प्रोक्तम् ॥</a:t>
            </a:r>
          </a:p>
          <a:p>
            <a:pPr>
              <a:spcBef>
                <a:spcPts val="400"/>
              </a:spcBef>
              <a:defRPr sz="1100" i="1">
                <a:solidFill>
                  <a:srgbClr val="881337"/>
                </a:solidFill>
              </a:defRPr>
            </a:pPr>
            <a:r>
              <a:t>niyataṁ kuru karma tvaṁ karma jyāyo hy akarmaṇaḥ ||</a:t>
            </a:r>
            <a:br/>
            <a:r>
              <a:t>yat tad agre viṣam iva pariṇāme 'mṛtopamam | tat sukhaṁ sāttvikaṁ proktam ||</a:t>
            </a:r>
          </a:p>
          <a:p>
            <a:pPr>
              <a:spcBef>
                <a:spcPts val="400"/>
              </a:spcBef>
              <a:defRPr sz="950">
                <a:solidFill>
                  <a:srgbClr val="64748B"/>
                </a:solidFill>
              </a:defRPr>
            </a:pPr>
            <a:r>
              <a:t>Everyday Meaning: Always do your honest work, for taking action is far better than sitting idle. Meaningful effort often feels uncomfortable at the very beginning (like bitter medicine), but tastes sweet like nectar once completed.</a:t>
            </a:r>
          </a:p>
          <a:p>
            <a:pPr>
              <a:spcBef>
                <a:spcPts val="600"/>
              </a:spcBef>
              <a:defRPr sz="1100" b="1">
                <a:solidFill>
                  <a:srgbClr val="B45309"/>
                </a:solidFill>
              </a:defRPr>
            </a:pPr>
            <a:r>
              <a:t>Key Insight: Beating Procrastination &amp; The 2-Minute Start</a:t>
            </a:r>
          </a:p>
          <a:p>
            <a:pPr>
              <a:spcBef>
                <a:spcPts val="400"/>
              </a:spcBef>
              <a:defRPr sz="1000">
                <a:solidFill>
                  <a:srgbClr val="334155"/>
                </a:solidFill>
              </a:defRPr>
            </a:pPr>
            <a:r>
              <a:t>If you wait until you 'feel like it' to clean the room, go for a walk, or study, you will wait forever. Motivation does not come before action—motivation arrives after you take the first step.</a:t>
            </a:r>
          </a:p>
        </p:txBody>
      </p:sp>
      <p:sp>
        <p:nvSpPr>
          <p:cNvPr id="5" name="Rounded Rectangle 4"/>
          <p:cNvSpPr/>
          <p:nvPr/>
        </p:nvSpPr>
        <p:spPr>
          <a:xfrm>
            <a:off x="6217920" y="1508760"/>
            <a:ext cx="5212080" cy="48920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B45309"/>
                </a:solidFill>
              </a:defRPr>
            </a:pPr>
            <a:r>
              <a:t>SIMPLE DAILY PRACTICE</a:t>
            </a:r>
          </a:p>
          <a:p>
            <a:pPr>
              <a:spcBef>
                <a:spcPts val="800"/>
              </a:spcBef>
              <a:defRPr sz="1100">
                <a:solidFill>
                  <a:srgbClr val="334155"/>
                </a:solidFill>
              </a:defRPr>
            </a:pPr>
            <a:r>
              <a:t>The 2-Minute Starter Rule:</a:t>
            </a:r>
            <a:br/>
            <a:r>
              <a:t>1. Shrink the Goal: Don't clean the whole house—just clean one table. Don't write 10 pages—write 3 lines.</a:t>
            </a:r>
            <a:br/>
            <a:r>
              <a:t>2. Push Through the First 5 Minutes: The hardest part is simply sitting down to start.</a:t>
            </a:r>
            <a:br/>
            <a:r>
              <a:t>3. Celebrate the Start: Taking action builds confidence immediately.</a:t>
            </a:r>
          </a:p>
          <a:p>
            <a:pPr>
              <a:spcBef>
                <a:spcPts val="1400"/>
              </a:spcBef>
              <a:defRPr sz="1200" b="1">
                <a:solidFill>
                  <a:srgbClr val="881337"/>
                </a:solidFill>
              </a:defRPr>
            </a:pPr>
            <a:r>
              <a:t>🌱 DAILY REMINDER:</a:t>
            </a:r>
            <a:br/>
            <a:r>
              <a:t>You don't need to finish the whole journey today. You only need to start for 2 minutes.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a:spAutoFit/>
          </a:bodyPr>
          <a:lstStyle/>
          <a:p>
            <a:pPr>
              <a:defRPr sz="1100" b="1">
                <a:solidFill>
                  <a:srgbClr val="B45309"/>
                </a:solidFill>
              </a:defRPr>
            </a:pPr>
            <a:r>
              <a:t>MODULE 3 • BRIGHT YELLOW — OVERCOMING LAZINESS &amp; TAKING ACTION</a:t>
            </a:r>
          </a:p>
          <a:p>
            <a:pPr>
              <a:defRPr sz="2200" b="1">
                <a:solidFill>
                  <a:srgbClr val="0F172A"/>
                </a:solidFill>
                <a:latin typeface="Georgia"/>
              </a:defRPr>
            </a:pPr>
            <a:r>
              <a:t>Building Daily Consistency (Small Steps Compound)</a:t>
            </a:r>
          </a:p>
        </p:txBody>
      </p:sp>
      <p:sp>
        <p:nvSpPr>
          <p:cNvPr id="4" name="Rounded Rectangle 3"/>
          <p:cNvSpPr/>
          <p:nvPr/>
        </p:nvSpPr>
        <p:spPr>
          <a:xfrm>
            <a:off x="731520" y="1508760"/>
            <a:ext cx="5120640" cy="4892040"/>
          </a:xfrm>
          <a:prstGeom prst="roundRect">
            <a:avLst/>
          </a:prstGeom>
          <a:solidFill>
            <a:srgbClr val="FFFFFF"/>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B45309"/>
                </a:solidFill>
              </a:defRPr>
            </a:pPr>
            <a:r>
              <a:t>BHAGAVAD GITA 3.7 &amp; 18.26</a:t>
            </a:r>
          </a:p>
          <a:p>
            <a:pPr>
              <a:spcBef>
                <a:spcPts val="400"/>
              </a:spcBef>
              <a:defRPr sz="1200" b="1">
                <a:solidFill>
                  <a:srgbClr val="881337"/>
                </a:solidFill>
              </a:defRPr>
            </a:pPr>
            <a:r>
              <a:t>यस्त्विन्द्रियाणि मनसा नियम्यारभतेऽर्जुन ।</a:t>
            </a:r>
            <a:br/>
            <a:r>
              <a:t>धृत्युत्साहसमन्वितः सिद्ध्यसिद्ध्योर्निर्विकारः कर्ता सात्त्विक उच्यते ॥</a:t>
            </a:r>
          </a:p>
          <a:p>
            <a:pPr>
              <a:spcBef>
                <a:spcPts val="400"/>
              </a:spcBef>
              <a:defRPr sz="1100" i="1">
                <a:solidFill>
                  <a:srgbClr val="881337"/>
                </a:solidFill>
              </a:defRPr>
            </a:pPr>
            <a:r>
              <a:t>yas tv indriyāṇi manasā niyamyārabhate 'rjuna ||</a:t>
            </a:r>
            <a:br/>
            <a:r>
              <a:t>dhṛty-utsāha-samanvitaḥ siddhy-asiddhyor nirvikāraḥ kartā sāttvika ucyate ||</a:t>
            </a:r>
          </a:p>
          <a:p>
            <a:pPr>
              <a:spcBef>
                <a:spcPts val="400"/>
              </a:spcBef>
              <a:defRPr sz="950">
                <a:solidFill>
                  <a:srgbClr val="64748B"/>
                </a:solidFill>
              </a:defRPr>
            </a:pPr>
            <a:r>
              <a:t>Everyday Meaning: One who gently focuses the mind and begins daily action with sincerity is noble. The wise person acts with steady enthusiasm, unbothered by temporary ups and downs.</a:t>
            </a:r>
          </a:p>
          <a:p>
            <a:pPr>
              <a:spcBef>
                <a:spcPts val="600"/>
              </a:spcBef>
              <a:defRPr sz="1100" b="1">
                <a:solidFill>
                  <a:srgbClr val="B45309"/>
                </a:solidFill>
              </a:defRPr>
            </a:pPr>
            <a:r>
              <a:t>Key Insight: Habit Building &amp; Never Missing Twice</a:t>
            </a:r>
          </a:p>
          <a:p>
            <a:pPr>
              <a:spcBef>
                <a:spcPts val="400"/>
              </a:spcBef>
              <a:defRPr sz="1000">
                <a:solidFill>
                  <a:srgbClr val="334155"/>
                </a:solidFill>
              </a:defRPr>
            </a:pPr>
            <a:r>
              <a:t>Consistency beats intensity every single time. Doing 10 minutes of walking every day is better than running 2 hours once a month. When you miss a day, don't feel guilty—just start again the next morning.</a:t>
            </a:r>
          </a:p>
        </p:txBody>
      </p:sp>
      <p:sp>
        <p:nvSpPr>
          <p:cNvPr id="5" name="Rounded Rectangle 4"/>
          <p:cNvSpPr/>
          <p:nvPr/>
        </p:nvSpPr>
        <p:spPr>
          <a:xfrm>
            <a:off x="6217920" y="1508760"/>
            <a:ext cx="5212080" cy="48920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B45309"/>
                </a:solidFill>
              </a:defRPr>
            </a:pPr>
            <a:r>
              <a:t>SIMPLE DAILY PRACTICE</a:t>
            </a:r>
          </a:p>
          <a:p>
            <a:pPr>
              <a:spcBef>
                <a:spcPts val="800"/>
              </a:spcBef>
              <a:defRPr sz="1100">
                <a:solidFill>
                  <a:srgbClr val="334155"/>
                </a:solidFill>
              </a:defRPr>
            </a:pPr>
            <a:r>
              <a:t>The Gentle Habit Rules:</a:t>
            </a:r>
            <a:br/>
            <a:r>
              <a:t>1. Have a Daily 'Floor': On busy or tired days, do your tiny baseline (5 pushups, 2 pages of reading).</a:t>
            </a:r>
            <a:br/>
            <a:r>
              <a:t>2. Never Miss Twice in a Row: If life gets in the way today, resume tomorrow without beating yourself up.</a:t>
            </a:r>
            <a:br/>
            <a:r>
              <a:t>3. Make It Easy to Begin: Keep your walking shoes or books where you can see them.</a:t>
            </a:r>
          </a:p>
          <a:p>
            <a:pPr>
              <a:spcBef>
                <a:spcPts val="1400"/>
              </a:spcBef>
              <a:defRPr sz="1200" b="1">
                <a:solidFill>
                  <a:srgbClr val="881337"/>
                </a:solidFill>
              </a:defRPr>
            </a:pPr>
            <a:r>
              <a:t>🌱 DAILY REMINDER:</a:t>
            </a:r>
            <a:br/>
            <a:r>
              <a:t>Small daily efforts, repeated day after day, quietly transform your entire life.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a:spAutoFit/>
          </a:bodyPr>
          <a:lstStyle/>
          <a:p>
            <a:pPr>
              <a:defRPr sz="1100" b="1">
                <a:solidFill>
                  <a:srgbClr val="B91C1C"/>
                </a:solidFill>
              </a:defRPr>
            </a:pPr>
            <a:r>
              <a:t>MODULE 4 • WARM RED — MANAGING ANGER &amp; FRUSTRATION</a:t>
            </a:r>
          </a:p>
          <a:p>
            <a:pPr>
              <a:defRPr sz="2200" b="1">
                <a:solidFill>
                  <a:srgbClr val="0F172A"/>
                </a:solidFill>
                <a:latin typeface="Georgia"/>
              </a:defRPr>
            </a:pPr>
            <a:r>
              <a:t>The Pause: Protecting Your Inner Peace</a:t>
            </a:r>
          </a:p>
        </p:txBody>
      </p:sp>
      <p:sp>
        <p:nvSpPr>
          <p:cNvPr id="4" name="Rounded Rectangle 3"/>
          <p:cNvSpPr/>
          <p:nvPr/>
        </p:nvSpPr>
        <p:spPr>
          <a:xfrm>
            <a:off x="731520" y="1508760"/>
            <a:ext cx="5120640" cy="4892040"/>
          </a:xfrm>
          <a:prstGeom prst="roundRect">
            <a:avLst/>
          </a:prstGeom>
          <a:solidFill>
            <a:srgbClr val="FFFFFF"/>
          </a:solidFill>
          <a:ln w="190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B91C1C"/>
                </a:solidFill>
              </a:defRPr>
            </a:pPr>
            <a:r>
              <a:t>BHAGAVAD GITA 2.63 &amp; 5.23</a:t>
            </a:r>
          </a:p>
          <a:p>
            <a:pPr>
              <a:spcBef>
                <a:spcPts val="400"/>
              </a:spcBef>
              <a:defRPr sz="1200" b="1">
                <a:solidFill>
                  <a:srgbClr val="881337"/>
                </a:solidFill>
              </a:defRPr>
            </a:pPr>
            <a:r>
              <a:t>क्रोधाद्भवति सम्मोहः सम्मोहात्स्मृतिविभ्रमः । स्मृतिभ्रंशाद्बुद्धिनाशो बुद्धिनाशात्प्रणश्यति ॥</a:t>
            </a:r>
            <a:br/>
            <a:r>
              <a:t>शक्नोतीहैव यः सोढुं प्राक् शरीरविमोक्षणात् । कामक्रोधोद्भवं वेगं स युक्तः स सुखी नरः ॥</a:t>
            </a:r>
          </a:p>
          <a:p>
            <a:pPr>
              <a:spcBef>
                <a:spcPts val="400"/>
              </a:spcBef>
              <a:defRPr sz="1100" i="1">
                <a:solidFill>
                  <a:srgbClr val="881337"/>
                </a:solidFill>
              </a:defRPr>
            </a:pPr>
            <a:r>
              <a:t>krodhād bhavati sammohaḥ sammohāt smṛti-vibhramaḥ | smṛti-bhraṁśād buddhi-nāśo buddhi-nāśāt praṇaśyati ||</a:t>
            </a:r>
            <a:br/>
            <a:r>
              <a:t>śaknotīhaiva yaḥ soḍhuṁ prāk śarīra-vimokṣaṇāt | kāma-krodhodbhavaṁ vegaṁ sa yuktaḥ sa suखी naraḥ ||</a:t>
            </a:r>
          </a:p>
          <a:p>
            <a:pPr>
              <a:spcBef>
                <a:spcPts val="400"/>
              </a:spcBef>
              <a:defRPr sz="950">
                <a:solidFill>
                  <a:srgbClr val="64748B"/>
                </a:solidFill>
              </a:defRPr>
            </a:pPr>
            <a:r>
              <a:t>Everyday Meaning: From anger comes confusion, from confusion loss of memory, and from loss of memory the destruction of good judgment. One who learns to master the surge of anger right here in daily life is truly happy and at peace.</a:t>
            </a:r>
          </a:p>
          <a:p>
            <a:pPr>
              <a:spcBef>
                <a:spcPts val="600"/>
              </a:spcBef>
              <a:defRPr sz="1100" b="1">
                <a:solidFill>
                  <a:srgbClr val="B45309"/>
                </a:solidFill>
              </a:defRPr>
            </a:pPr>
            <a:r>
              <a:t>Key Insight: Cooling Down Emotional Triggers</a:t>
            </a:r>
          </a:p>
          <a:p>
            <a:pPr>
              <a:spcBef>
                <a:spcPts val="400"/>
              </a:spcBef>
              <a:defRPr sz="1000">
                <a:solidFill>
                  <a:srgbClr val="334155"/>
                </a:solidFill>
              </a:defRPr>
            </a:pPr>
            <a:r>
              <a:t>Anger feels powerful in the moment, but it usually harms the person holding it more than anyone else. Harsh words spoken in 10 seconds of fury can damage relationships that took 10 years to build.</a:t>
            </a:r>
          </a:p>
        </p:txBody>
      </p:sp>
      <p:sp>
        <p:nvSpPr>
          <p:cNvPr id="5" name="Rounded Rectangle 4"/>
          <p:cNvSpPr/>
          <p:nvPr/>
        </p:nvSpPr>
        <p:spPr>
          <a:xfrm>
            <a:off x="6217920" y="1508760"/>
            <a:ext cx="5212080" cy="48920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B45309"/>
                </a:solidFill>
              </a:defRPr>
            </a:pPr>
            <a:r>
              <a:t>SIMPLE DAILY PRACTICE</a:t>
            </a:r>
          </a:p>
          <a:p>
            <a:pPr>
              <a:spcBef>
                <a:spcPts val="800"/>
              </a:spcBef>
              <a:defRPr sz="1100">
                <a:solidFill>
                  <a:srgbClr val="334155"/>
                </a:solidFill>
              </a:defRPr>
            </a:pPr>
            <a:r>
              <a:t>The 3-Breath Cooldown:</a:t>
            </a:r>
            <a:br/>
            <a:r>
              <a:t>1. Don't Speak Right Away: When anger flares up, close your mouth and take 3 slow breaths.</a:t>
            </a:r>
            <a:br/>
            <a:r>
              <a:t>2. Step Away: If needed, say: 'I need a few minutes before we discuss this.'</a:t>
            </a:r>
            <a:br/>
            <a:r>
              <a:t>3. Sleep on Big Decisions: Never send angry messages or make life decisions while agitated.</a:t>
            </a:r>
          </a:p>
          <a:p>
            <a:pPr>
              <a:spcBef>
                <a:spcPts val="1400"/>
              </a:spcBef>
              <a:defRPr sz="1200" b="1">
                <a:solidFill>
                  <a:srgbClr val="881337"/>
                </a:solidFill>
              </a:defRPr>
            </a:pPr>
            <a:r>
              <a:t>🌱 DAILY REMINDER:</a:t>
            </a:r>
            <a:br/>
            <a:r>
              <a:t>Holding onto anger is like drinking poison and expecting the other person to get sick.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a:spAutoFit/>
          </a:bodyPr>
          <a:lstStyle/>
          <a:p>
            <a:pPr>
              <a:defRPr sz="1100" b="1">
                <a:solidFill>
                  <a:srgbClr val="B91C1C"/>
                </a:solidFill>
              </a:defRPr>
            </a:pPr>
            <a:r>
              <a:t>MODULE 4 • WARM RED — MANAGING ANGER &amp; FRUSTRATION</a:t>
            </a:r>
          </a:p>
          <a:p>
            <a:pPr>
              <a:defRPr sz="2200" b="1">
                <a:solidFill>
                  <a:srgbClr val="0F172A"/>
                </a:solidFill>
                <a:latin typeface="Georgia"/>
              </a:defRPr>
            </a:pPr>
            <a:r>
              <a:t>Speaking with Kindness &amp; The 1-Year Test</a:t>
            </a:r>
          </a:p>
        </p:txBody>
      </p:sp>
      <p:sp>
        <p:nvSpPr>
          <p:cNvPr id="4" name="Rounded Rectangle 3"/>
          <p:cNvSpPr/>
          <p:nvPr/>
        </p:nvSpPr>
        <p:spPr>
          <a:xfrm>
            <a:off x="731520" y="1508760"/>
            <a:ext cx="5120640" cy="4892040"/>
          </a:xfrm>
          <a:prstGeom prst="roundRect">
            <a:avLst/>
          </a:prstGeom>
          <a:solidFill>
            <a:srgbClr val="FFFFFF"/>
          </a:solidFill>
          <a:ln w="19050">
            <a:solidFill>
              <a:srgbClr val="B91C1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B91C1C"/>
                </a:solidFill>
              </a:defRPr>
            </a:pPr>
            <a:r>
              <a:t>BHAGAVAD GITA 12.15 &amp; 17.15</a:t>
            </a:r>
          </a:p>
          <a:p>
            <a:pPr>
              <a:spcBef>
                <a:spcPts val="400"/>
              </a:spcBef>
              <a:defRPr sz="1200" b="1">
                <a:solidFill>
                  <a:srgbClr val="881337"/>
                </a:solidFill>
              </a:defRPr>
            </a:pPr>
            <a:r>
              <a:t>यस्मान्नोद्विजते लोको लोकान्नोद्विजते च यः ।</a:t>
            </a:r>
            <a:br/>
            <a:r>
              <a:t>अनुद्वेगकरं वाक्यं सत्यं प्रियहितं च यत् ॥</a:t>
            </a:r>
          </a:p>
          <a:p>
            <a:pPr>
              <a:spcBef>
                <a:spcPts val="400"/>
              </a:spcBef>
              <a:defRPr sz="1100" i="1">
                <a:solidFill>
                  <a:srgbClr val="881337"/>
                </a:solidFill>
              </a:defRPr>
            </a:pPr>
            <a:r>
              <a:t>yasmān nodvijate loko lokān nodvijate ca yaḥ ||</a:t>
            </a:r>
            <a:br/>
            <a:r>
              <a:t>anudvega-karaṁ vākyaṁ satyaṁ priya-hitaṁ ca yat ||</a:t>
            </a:r>
          </a:p>
          <a:p>
            <a:pPr>
              <a:spcBef>
                <a:spcPts val="400"/>
              </a:spcBef>
              <a:defRPr sz="950">
                <a:solidFill>
                  <a:srgbClr val="64748B"/>
                </a:solidFill>
              </a:defRPr>
            </a:pPr>
            <a:r>
              <a:t>Everyday Meaning: One who does not agitate others and who is not easily agitated by others is deeply wise. Speak words that cause no hurt, are truthful, gentle, and beneficial.</a:t>
            </a:r>
          </a:p>
          <a:p>
            <a:pPr>
              <a:spcBef>
                <a:spcPts val="600"/>
              </a:spcBef>
              <a:defRPr sz="1100" b="1">
                <a:solidFill>
                  <a:srgbClr val="B45309"/>
                </a:solidFill>
              </a:defRPr>
            </a:pPr>
            <a:r>
              <a:t>Key Insight: Kind Communication &amp; Perspective Taking</a:t>
            </a:r>
          </a:p>
          <a:p>
            <a:pPr>
              <a:spcBef>
                <a:spcPts val="400"/>
              </a:spcBef>
              <a:defRPr sz="1000">
                <a:solidFill>
                  <a:srgbClr val="334155"/>
                </a:solidFill>
              </a:defRPr>
            </a:pPr>
            <a:r>
              <a:t>Most daily arguments happen over minor things: spilled tea, miscommunicated chores, traffic, or tone of voice. When annoyed, ask yourself: 'Will this matter a year from now?' If not, let it go.</a:t>
            </a:r>
          </a:p>
        </p:txBody>
      </p:sp>
      <p:sp>
        <p:nvSpPr>
          <p:cNvPr id="5" name="Rounded Rectangle 4"/>
          <p:cNvSpPr/>
          <p:nvPr/>
        </p:nvSpPr>
        <p:spPr>
          <a:xfrm>
            <a:off x="6217920" y="1508760"/>
            <a:ext cx="5212080" cy="48920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B45309"/>
                </a:solidFill>
              </a:defRPr>
            </a:pPr>
            <a:r>
              <a:t>SIMPLE DAILY PRACTICE</a:t>
            </a:r>
          </a:p>
          <a:p>
            <a:pPr>
              <a:spcBef>
                <a:spcPts val="800"/>
              </a:spcBef>
              <a:defRPr sz="1100">
                <a:solidFill>
                  <a:srgbClr val="334155"/>
                </a:solidFill>
              </a:defRPr>
            </a:pPr>
            <a:r>
              <a:t>The Gentle Speech Filter:</a:t>
            </a:r>
            <a:br/>
            <a:r>
              <a:t>1. The 3 Questions: Before speaking in anger, ask: Is it true? Is it necessary? Is it kind?</a:t>
            </a:r>
            <a:br/>
            <a:r>
              <a:t>2. Lower Your Voice: When someone is shouting, speak quietly. Calmness is infectious.</a:t>
            </a:r>
            <a:br/>
            <a:r>
              <a:t>3. Choose Peace Over Winning: You don't have to win every argument to be happy.</a:t>
            </a:r>
          </a:p>
          <a:p>
            <a:pPr>
              <a:spcBef>
                <a:spcPts val="1400"/>
              </a:spcBef>
              <a:defRPr sz="1200" b="1">
                <a:solidFill>
                  <a:srgbClr val="881337"/>
                </a:solidFill>
              </a:defRPr>
            </a:pPr>
            <a:r>
              <a:t>🌱 DAILY REMINDER:</a:t>
            </a:r>
            <a:br/>
            <a:r>
              <a:t>Quiet patience is supreme strength. Being kind is always more powerful than being loud.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a:spAutoFit/>
          </a:bodyPr>
          <a:lstStyle/>
          <a:p>
            <a:pPr>
              <a:defRPr sz="1100" b="1">
                <a:solidFill>
                  <a:srgbClr val="4338CA"/>
                </a:solidFill>
              </a:defRPr>
            </a:pPr>
            <a:r>
              <a:t>MODULE 5 • INDIGO / SLATE — HEALING FROM SADNESS &amp; TOUGH DAYS</a:t>
            </a:r>
          </a:p>
          <a:p>
            <a:pPr>
              <a:defRPr sz="2200" b="1">
                <a:solidFill>
                  <a:srgbClr val="0F172A"/>
                </a:solidFill>
                <a:latin typeface="Georgia"/>
              </a:defRPr>
            </a:pPr>
            <a:r>
              <a:t>Your Inner Light Cannot Be Dimmed</a:t>
            </a:r>
          </a:p>
        </p:txBody>
      </p:sp>
      <p:sp>
        <p:nvSpPr>
          <p:cNvPr id="4" name="Rounded Rectangle 3"/>
          <p:cNvSpPr/>
          <p:nvPr/>
        </p:nvSpPr>
        <p:spPr>
          <a:xfrm>
            <a:off x="731520" y="1508760"/>
            <a:ext cx="5120640" cy="4892040"/>
          </a:xfrm>
          <a:prstGeom prst="roundRect">
            <a:avLst/>
          </a:prstGeom>
          <a:solidFill>
            <a:srgbClr val="FFFFFF"/>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4338CA"/>
                </a:solidFill>
              </a:defRPr>
            </a:pPr>
            <a:r>
              <a:t>BHAGAVAD GITA 2.20 &amp; 2.13</a:t>
            </a:r>
          </a:p>
          <a:p>
            <a:pPr>
              <a:spcBef>
                <a:spcPts val="400"/>
              </a:spcBef>
              <a:defRPr sz="1200" b="1">
                <a:solidFill>
                  <a:srgbClr val="881337"/>
                </a:solidFill>
              </a:defRPr>
            </a:pPr>
            <a:r>
              <a:t>न जायते म्रियते वा कदाचिन्नायं भूत्वा भविता वा न भूयः । अजो नित्यः शाश्वतोऽयं पुराणो न हन्यते हन्यमाने शरीरे ॥</a:t>
            </a:r>
            <a:br/>
            <a:r>
              <a:t>देहिनोऽस्मिन्यथा देहे कौमारं यौवनं जरा ॥</a:t>
            </a:r>
          </a:p>
          <a:p>
            <a:pPr>
              <a:spcBef>
                <a:spcPts val="400"/>
              </a:spcBef>
              <a:defRPr sz="1100" i="1">
                <a:solidFill>
                  <a:srgbClr val="881337"/>
                </a:solidFill>
              </a:defRPr>
            </a:pPr>
            <a:r>
              <a:t>na jāyate mriyate vā kadācin nāyaṁ bhūtvā bhavitā vā na bhūyaḥ | ajo nityaḥ śāśvato 'yaṁ purāṇo na hanyate hanyamāne śarīre ||</a:t>
            </a:r>
            <a:br/>
            <a:r>
              <a:t>dehino 'smin yathā dehe kaumāraṁ yauvanaṁ jarā ||</a:t>
            </a:r>
          </a:p>
          <a:p>
            <a:pPr>
              <a:spcBef>
                <a:spcPts val="400"/>
              </a:spcBef>
              <a:defRPr sz="950">
                <a:solidFill>
                  <a:srgbClr val="64748B"/>
                </a:solidFill>
              </a:defRPr>
            </a:pPr>
            <a:r>
              <a:t>Everyday Meaning: The true essence of your spirit is never born and never dies. It is eternal, timeless, and indestructible. Just as we grow through childhood, youth, and aging, life moves through seasons of joy and sorrow.</a:t>
            </a:r>
          </a:p>
          <a:p>
            <a:pPr>
              <a:spcBef>
                <a:spcPts val="600"/>
              </a:spcBef>
              <a:defRPr sz="1100" b="1">
                <a:solidFill>
                  <a:srgbClr val="B45309"/>
                </a:solidFill>
              </a:defRPr>
            </a:pPr>
            <a:r>
              <a:t>Key Insight: Emotional Resilience &amp; Coping with Life Changes</a:t>
            </a:r>
          </a:p>
          <a:p>
            <a:pPr>
              <a:spcBef>
                <a:spcPts val="400"/>
              </a:spcBef>
              <a:defRPr sz="1000">
                <a:solidFill>
                  <a:srgbClr val="334155"/>
                </a:solidFill>
              </a:defRPr>
            </a:pPr>
            <a:r>
              <a:t>When you face grief, disappointment, or loneliness, remember that beneath all temporary sadness lives an unbreakable inner strength. You have survived every difficult day of your past, and you will get through this one too.</a:t>
            </a:r>
          </a:p>
        </p:txBody>
      </p:sp>
      <p:sp>
        <p:nvSpPr>
          <p:cNvPr id="5" name="Rounded Rectangle 4"/>
          <p:cNvSpPr/>
          <p:nvPr/>
        </p:nvSpPr>
        <p:spPr>
          <a:xfrm>
            <a:off x="6217920" y="1508760"/>
            <a:ext cx="5212080" cy="48920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B45309"/>
                </a:solidFill>
              </a:defRPr>
            </a:pPr>
            <a:r>
              <a:t>SIMPLE DAILY PRACTICE</a:t>
            </a:r>
          </a:p>
          <a:p>
            <a:pPr>
              <a:spcBef>
                <a:spcPts val="800"/>
              </a:spcBef>
              <a:defRPr sz="1100">
                <a:solidFill>
                  <a:srgbClr val="334155"/>
                </a:solidFill>
              </a:defRPr>
            </a:pPr>
            <a:r>
              <a:t>Comfort on a Difficult Day:</a:t>
            </a:r>
            <a:br/>
            <a:r>
              <a:t>1. Be Gentle with Yourself: Treat yourself like a child who is tired or hurting.</a:t>
            </a:r>
            <a:br/>
            <a:r>
              <a:t>2. Cry if You Need To: Tears are not weakness; they are how the heart releases heavy burdens.</a:t>
            </a:r>
            <a:br/>
            <a:r>
              <a:t>3. Remember Seasons Change: Winter never lasts forever; spring always returns in time.</a:t>
            </a:r>
          </a:p>
          <a:p>
            <a:pPr>
              <a:spcBef>
                <a:spcPts val="1400"/>
              </a:spcBef>
              <a:defRPr sz="1200" b="1">
                <a:solidFill>
                  <a:srgbClr val="881337"/>
                </a:solidFill>
              </a:defRPr>
            </a:pPr>
            <a:r>
              <a:t>🌱 DAILY REMINDER:</a:t>
            </a:r>
            <a:br/>
            <a:r>
              <a:t>A bad season does not mean a bad life. Give yourself time to heal, one day at a time.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a:spAutoFit/>
          </a:bodyPr>
          <a:lstStyle/>
          <a:p>
            <a:pPr>
              <a:defRPr sz="1100" b="1">
                <a:solidFill>
                  <a:srgbClr val="4338CA"/>
                </a:solidFill>
              </a:defRPr>
            </a:pPr>
            <a:r>
              <a:t>MODULE 5 • INDIGO / SLATE — HEALING FROM SADNESS &amp; TOUGH DAYS</a:t>
            </a:r>
          </a:p>
          <a:p>
            <a:pPr>
              <a:defRPr sz="2200" b="1">
                <a:solidFill>
                  <a:srgbClr val="0F172A"/>
                </a:solidFill>
                <a:latin typeface="Georgia"/>
              </a:defRPr>
            </a:pPr>
            <a:r>
              <a:t>It's Okay to Be Imperfect (No Sincere Effort is Lost)</a:t>
            </a:r>
          </a:p>
        </p:txBody>
      </p:sp>
      <p:sp>
        <p:nvSpPr>
          <p:cNvPr id="4" name="Rounded Rectangle 3"/>
          <p:cNvSpPr/>
          <p:nvPr/>
        </p:nvSpPr>
        <p:spPr>
          <a:xfrm>
            <a:off x="731520" y="1508760"/>
            <a:ext cx="5120640" cy="4892040"/>
          </a:xfrm>
          <a:prstGeom prst="roundRect">
            <a:avLst/>
          </a:prstGeom>
          <a:solidFill>
            <a:srgbClr val="FFFFFF"/>
          </a:solidFill>
          <a:ln w="19050">
            <a:solidFill>
              <a:srgbClr val="4338C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4338CA"/>
                </a:solidFill>
              </a:defRPr>
            </a:pPr>
            <a:r>
              <a:t>BHAGAVAD GITA 18.48 &amp; 6.40</a:t>
            </a:r>
          </a:p>
          <a:p>
            <a:pPr>
              <a:spcBef>
                <a:spcPts val="400"/>
              </a:spcBef>
              <a:defRPr sz="1200" b="1">
                <a:solidFill>
                  <a:srgbClr val="881337"/>
                </a:solidFill>
              </a:defRPr>
            </a:pPr>
            <a:r>
              <a:t>सहजं कर्म कौन्तेय सदोषमपि न त्यजेत् । सर्वारम्भा हि दोषेण धूमेनाग्निरिवावृताः ॥</a:t>
            </a:r>
            <a:br/>
            <a:r>
              <a:t>पार्थ नैवेह नामुत्र विनाशस्तस्य विद्यते । न हि कल्याणकृत्कश्चिद्दुर्गतिं तात गच्छति ॥</a:t>
            </a:r>
          </a:p>
          <a:p>
            <a:pPr>
              <a:spcBef>
                <a:spcPts val="400"/>
              </a:spcBef>
              <a:defRPr sz="1100" i="1">
                <a:solidFill>
                  <a:srgbClr val="881337"/>
                </a:solidFill>
              </a:defRPr>
            </a:pPr>
            <a:r>
              <a:t>saha-jaṁ karma kaunteya sa-doṣam api na tyajet | sarvārambhā hi doṣeṇa dhūmenāgnir ivāvṛtāḥ ||</a:t>
            </a:r>
            <a:br/>
            <a:r>
              <a:t>pārtha naiveha nāmutra vināśas tasya vidyate | na hi kalyāṇa-kṛt kaścid durgatiṁ tāta gacchati ||</a:t>
            </a:r>
          </a:p>
          <a:p>
            <a:pPr>
              <a:spcBef>
                <a:spcPts val="400"/>
              </a:spcBef>
              <a:defRPr sz="950">
                <a:solidFill>
                  <a:srgbClr val="64748B"/>
                </a:solidFill>
              </a:defRPr>
            </a:pPr>
            <a:r>
              <a:t>Everyday Meaning: Do not abandon your sincere efforts just because things are imperfect; all beginnings have flaws, just as fire is accompanied by smoke. No one who strives with a good and honest heart ever comes to real ruin.</a:t>
            </a:r>
          </a:p>
          <a:p>
            <a:pPr>
              <a:spcBef>
                <a:spcPts val="600"/>
              </a:spcBef>
              <a:defRPr sz="1100" b="1">
                <a:solidFill>
                  <a:srgbClr val="B45309"/>
                </a:solidFill>
              </a:defRPr>
            </a:pPr>
            <a:r>
              <a:t>Key Insight: Self-Forgiveness &amp; Letting Go of Perfectionism</a:t>
            </a:r>
          </a:p>
          <a:p>
            <a:pPr>
              <a:spcBef>
                <a:spcPts val="400"/>
              </a:spcBef>
              <a:defRPr sz="1000">
                <a:solidFill>
                  <a:srgbClr val="334155"/>
                </a:solidFill>
              </a:defRPr>
            </a:pPr>
            <a:r>
              <a:t>Nobody leads a flawless life. We all make mistakes, burn dinner, say the wrong thing, or take wrong turns. Perfection is an illusion; sincerity and willingness to try again are what truly matter.</a:t>
            </a:r>
          </a:p>
        </p:txBody>
      </p:sp>
      <p:sp>
        <p:nvSpPr>
          <p:cNvPr id="5" name="Rounded Rectangle 4"/>
          <p:cNvSpPr/>
          <p:nvPr/>
        </p:nvSpPr>
        <p:spPr>
          <a:xfrm>
            <a:off x="6217920" y="1508760"/>
            <a:ext cx="5212080" cy="48920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B45309"/>
                </a:solidFill>
              </a:defRPr>
            </a:pPr>
            <a:r>
              <a:t>SIMPLE DAILY PRACTICE</a:t>
            </a:r>
          </a:p>
          <a:p>
            <a:pPr>
              <a:spcBef>
                <a:spcPts val="800"/>
              </a:spcBef>
              <a:defRPr sz="1100">
                <a:solidFill>
                  <a:srgbClr val="334155"/>
                </a:solidFill>
              </a:defRPr>
            </a:pPr>
            <a:r>
              <a:t>The Self-Forgiveness Practice:</a:t>
            </a:r>
            <a:br/>
            <a:r>
              <a:t>1. Forgive Yesterday's Mistakes: What happened yesterday cannot be changed, but today is fresh.</a:t>
            </a:r>
            <a:br/>
            <a:r>
              <a:t>2. Accept the Smoke: Expect small flaws in everything you do—it's part of being human.</a:t>
            </a:r>
            <a:br/>
            <a:r>
              <a:t>3. Trust Your Good Intentions: Every sincere effort you make adds up in your character.</a:t>
            </a:r>
          </a:p>
          <a:p>
            <a:pPr>
              <a:spcBef>
                <a:spcPts val="1400"/>
              </a:spcBef>
              <a:defRPr sz="1200" b="1">
                <a:solidFill>
                  <a:srgbClr val="881337"/>
                </a:solidFill>
              </a:defRPr>
            </a:pPr>
            <a:r>
              <a:t>🌱 DAILY REMINDER:</a:t>
            </a:r>
            <a:br/>
            <a:r>
              <a:t>You don't have to be perfect to be worthy of love, peace, and self-respect.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a:spAutoFit/>
          </a:bodyPr>
          <a:lstStyle/>
          <a:p>
            <a:pPr>
              <a:defRPr sz="1100" b="1">
                <a:solidFill>
                  <a:srgbClr val="7E22CE"/>
                </a:solidFill>
              </a:defRPr>
            </a:pPr>
            <a:r>
              <a:t>MODULE 6 • DEEP PURPLE — SOLITUDE &amp; KIND SELF-TALK</a:t>
            </a:r>
          </a:p>
          <a:p>
            <a:pPr>
              <a:defRPr sz="2200" b="1">
                <a:solidFill>
                  <a:srgbClr val="0F172A"/>
                </a:solidFill>
                <a:latin typeface="Georgia"/>
              </a:defRPr>
            </a:pPr>
            <a:r>
              <a:t>Becoming Your Own Best Friend</a:t>
            </a:r>
          </a:p>
        </p:txBody>
      </p:sp>
      <p:sp>
        <p:nvSpPr>
          <p:cNvPr id="4" name="Rounded Rectangle 3"/>
          <p:cNvSpPr/>
          <p:nvPr/>
        </p:nvSpPr>
        <p:spPr>
          <a:xfrm>
            <a:off x="731520" y="1508760"/>
            <a:ext cx="5120640" cy="4892040"/>
          </a:xfrm>
          <a:prstGeom prst="roundRect">
            <a:avLst/>
          </a:prstGeom>
          <a:solidFill>
            <a:srgbClr val="FFFFFF"/>
          </a:solidFill>
          <a:ln w="1905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7E22CE"/>
                </a:solidFill>
              </a:defRPr>
            </a:pPr>
            <a:r>
              <a:t>BHAGAVAD GITA 6.5 &amp; 6.6</a:t>
            </a:r>
          </a:p>
          <a:p>
            <a:pPr>
              <a:spcBef>
                <a:spcPts val="400"/>
              </a:spcBef>
              <a:defRPr sz="1200" b="1">
                <a:solidFill>
                  <a:srgbClr val="881337"/>
                </a:solidFill>
              </a:defRPr>
            </a:pPr>
            <a:r>
              <a:t>उद्धरेदात्मनात्मानं नात्मानमवसादयेत् । आत्मैव ह्यात्मनो बन्धुरात्मैव रिपुरात्मनः ॥</a:t>
            </a:r>
            <a:br/>
            <a:r>
              <a:t>बन्धुरात्मात्मनस्तस्य येनात्मैवात्मना जितः ॥</a:t>
            </a:r>
          </a:p>
          <a:p>
            <a:pPr>
              <a:spcBef>
                <a:spcPts val="400"/>
              </a:spcBef>
              <a:defRPr sz="1100" i="1">
                <a:solidFill>
                  <a:srgbClr val="881337"/>
                </a:solidFill>
              </a:defRPr>
            </a:pPr>
            <a:r>
              <a:t>uddhared ātmanātmānaṁ nātmānam avasādayet | ātmaiva hy ātmano bandhur ātmaiva ripur ātmanaḥ ||</a:t>
            </a:r>
            <a:br/>
            <a:r>
              <a:t>bandhur ātmātmanas tasya yenātmaivātmanā jitaḥ ||</a:t>
            </a:r>
          </a:p>
          <a:p>
            <a:pPr>
              <a:spcBef>
                <a:spcPts val="400"/>
              </a:spcBef>
              <a:defRPr sz="950">
                <a:solidFill>
                  <a:srgbClr val="64748B"/>
                </a:solidFill>
              </a:defRPr>
            </a:pPr>
            <a:r>
              <a:t>Everyday Meaning: Lift yourself up with your own mind; never put yourself down. For your own mind can be your greatest friend, or your worst enemy. When you learn to guide yourself with love, you become your own true ally.</a:t>
            </a:r>
          </a:p>
          <a:p>
            <a:pPr>
              <a:spcBef>
                <a:spcPts val="600"/>
              </a:spcBef>
              <a:defRPr sz="1100" b="1">
                <a:solidFill>
                  <a:srgbClr val="B45309"/>
                </a:solidFill>
              </a:defRPr>
            </a:pPr>
            <a:r>
              <a:t>Key Insight: Kind Self-Talk &amp; Overcoming Self-Criticism</a:t>
            </a:r>
          </a:p>
          <a:p>
            <a:pPr>
              <a:spcBef>
                <a:spcPts val="400"/>
              </a:spcBef>
              <a:defRPr sz="1000">
                <a:solidFill>
                  <a:srgbClr val="334155"/>
                </a:solidFill>
              </a:defRPr>
            </a:pPr>
            <a:r>
              <a:t>Notice the voice inside your head: would you talk to a friend, child, or parent the way you talk to yourself when you make a mistake? Stop bullying yourself in secret. Start being in your own corner.</a:t>
            </a:r>
          </a:p>
        </p:txBody>
      </p:sp>
      <p:sp>
        <p:nvSpPr>
          <p:cNvPr id="5" name="Rounded Rectangle 4"/>
          <p:cNvSpPr/>
          <p:nvPr/>
        </p:nvSpPr>
        <p:spPr>
          <a:xfrm>
            <a:off x="6217920" y="1508760"/>
            <a:ext cx="5212080" cy="48920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B45309"/>
                </a:solidFill>
              </a:defRPr>
            </a:pPr>
            <a:r>
              <a:t>SIMPLE DAILY PRACTICE</a:t>
            </a:r>
          </a:p>
          <a:p>
            <a:pPr>
              <a:spcBef>
                <a:spcPts val="800"/>
              </a:spcBef>
              <a:defRPr sz="1100">
                <a:solidFill>
                  <a:srgbClr val="334155"/>
                </a:solidFill>
              </a:defRPr>
            </a:pPr>
            <a:r>
              <a:t>The Kind Inner Voice Practice:</a:t>
            </a:r>
            <a:br/>
            <a:r>
              <a:t>1. Check Your Self-Talk: If an inner voice says 'I am foolish', gently reply: 'I am learning.'</a:t>
            </a:r>
            <a:br/>
            <a:r>
              <a:t>2. Cheer for Yourself: Acknowledge the small quiet victories you achieve each day.</a:t>
            </a:r>
            <a:br/>
            <a:r>
              <a:t>3. Stand by Yourself: When others doubt you, remain a loyal friend to your own heart.</a:t>
            </a:r>
          </a:p>
          <a:p>
            <a:pPr>
              <a:spcBef>
                <a:spcPts val="1400"/>
              </a:spcBef>
              <a:defRPr sz="1200" b="1">
                <a:solidFill>
                  <a:srgbClr val="881337"/>
                </a:solidFill>
              </a:defRPr>
            </a:pPr>
            <a:r>
              <a:t>🌱 DAILY REMINDER:</a:t>
            </a:r>
            <a:br/>
            <a:r>
              <a:t>Talk to yourself with the same warmth and patience you would offer a loved 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a:spAutoFit/>
          </a:bodyPr>
          <a:lstStyle/>
          <a:p>
            <a:pPr>
              <a:defRPr sz="1100" b="1">
                <a:solidFill>
                  <a:srgbClr val="7E22CE"/>
                </a:solidFill>
              </a:defRPr>
            </a:pPr>
            <a:r>
              <a:t>MODULE 6 • DEEP PURPLE — SOLITUDE &amp; KIND SELF-TALK</a:t>
            </a:r>
          </a:p>
          <a:p>
            <a:pPr>
              <a:defRPr sz="2200" b="1">
                <a:solidFill>
                  <a:srgbClr val="0F172A"/>
                </a:solidFill>
                <a:latin typeface="Georgia"/>
              </a:defRPr>
            </a:pPr>
            <a:r>
              <a:t>Finding Comfort in Quiet Moments</a:t>
            </a:r>
          </a:p>
        </p:txBody>
      </p:sp>
      <p:sp>
        <p:nvSpPr>
          <p:cNvPr id="4" name="Rounded Rectangle 3"/>
          <p:cNvSpPr/>
          <p:nvPr/>
        </p:nvSpPr>
        <p:spPr>
          <a:xfrm>
            <a:off x="731520" y="1508760"/>
            <a:ext cx="5120640" cy="4892040"/>
          </a:xfrm>
          <a:prstGeom prst="roundRect">
            <a:avLst/>
          </a:prstGeom>
          <a:solidFill>
            <a:srgbClr val="FFFFFF"/>
          </a:solidFill>
          <a:ln w="19050">
            <a:solidFill>
              <a:srgbClr val="7E22C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7E22CE"/>
                </a:solidFill>
              </a:defRPr>
            </a:pPr>
            <a:r>
              <a:t>BHAGAVAD GITA 6.10 &amp; 13.28</a:t>
            </a:r>
          </a:p>
          <a:p>
            <a:pPr>
              <a:spcBef>
                <a:spcPts val="400"/>
              </a:spcBef>
              <a:defRPr sz="1200" b="1">
                <a:solidFill>
                  <a:srgbClr val="881337"/>
                </a:solidFill>
              </a:defRPr>
            </a:pPr>
            <a:r>
              <a:t>योगी युञ्जीत सततमात्मानं रहसि स्थितः । एकाकी यतचित्तात्मा ॥</a:t>
            </a:r>
            <a:br/>
            <a:r>
              <a:t>समं सर्वेषु भूतेषु तिष्ठन्तं परमेश्वरम् ॥</a:t>
            </a:r>
          </a:p>
          <a:p>
            <a:pPr>
              <a:spcBef>
                <a:spcPts val="400"/>
              </a:spcBef>
              <a:defRPr sz="1100" i="1">
                <a:solidFill>
                  <a:srgbClr val="881337"/>
                </a:solidFill>
              </a:defRPr>
            </a:pPr>
            <a:r>
              <a:t>yogī yuñjīta satatam ātmānaṁ rahasi sthitaḥ | ekākī yata-cittātmā ||</a:t>
            </a:r>
            <a:br/>
            <a:r>
              <a:t>samaṁ sarveṣu bhūteṣu tiṣṭhantaṁ parameśvaram ||</a:t>
            </a:r>
          </a:p>
          <a:p>
            <a:pPr>
              <a:spcBef>
                <a:spcPts val="400"/>
              </a:spcBef>
              <a:defRPr sz="950">
                <a:solidFill>
                  <a:srgbClr val="64748B"/>
                </a:solidFill>
              </a:defRPr>
            </a:pPr>
            <a:r>
              <a:t>Everyday Meaning: Learn to enjoy quiet, peaceful moments with a calm and gentle heart. See the same shared spark of life living in every being around you.</a:t>
            </a:r>
          </a:p>
          <a:p>
            <a:pPr>
              <a:spcBef>
                <a:spcPts val="600"/>
              </a:spcBef>
              <a:defRPr sz="1100" b="1">
                <a:solidFill>
                  <a:srgbClr val="B45309"/>
                </a:solidFill>
              </a:defRPr>
            </a:pPr>
            <a:r>
              <a:t>Key Insight: Solitude as Refreshment &amp; Quiet Confidence</a:t>
            </a:r>
          </a:p>
          <a:p>
            <a:pPr>
              <a:spcBef>
                <a:spcPts val="400"/>
              </a:spcBef>
              <a:defRPr sz="1000">
                <a:solidFill>
                  <a:srgbClr val="334155"/>
                </a:solidFill>
              </a:defRPr>
            </a:pPr>
            <a:r>
              <a:t>Being alone does not mean you are lonely. Solitude can be a peaceful garden where you read, pray, listen to birds, or enjoy a cup of tea. When you are at peace with yourself, you are never truly alone.</a:t>
            </a:r>
          </a:p>
        </p:txBody>
      </p:sp>
      <p:sp>
        <p:nvSpPr>
          <p:cNvPr id="5" name="Rounded Rectangle 4"/>
          <p:cNvSpPr/>
          <p:nvPr/>
        </p:nvSpPr>
        <p:spPr>
          <a:xfrm>
            <a:off x="6217920" y="1508760"/>
            <a:ext cx="5212080" cy="48920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B45309"/>
                </a:solidFill>
              </a:defRPr>
            </a:pPr>
            <a:r>
              <a:t>SIMPLE DAILY PRACTICE</a:t>
            </a:r>
          </a:p>
          <a:p>
            <a:pPr>
              <a:spcBef>
                <a:spcPts val="800"/>
              </a:spcBef>
              <a:defRPr sz="1100">
                <a:solidFill>
                  <a:srgbClr val="334155"/>
                </a:solidFill>
              </a:defRPr>
            </a:pPr>
            <a:r>
              <a:t>The Quiet Tea Practice:</a:t>
            </a:r>
            <a:br/>
            <a:r>
              <a:t>1. 10 Minutes of Solitude: Sit quietly without your phone, television, or chores.</a:t>
            </a:r>
            <a:br/>
            <a:r>
              <a:t>2. Feel Connected to Life: Look out the window at trees, clouds, or neighbors; feel part of the world.</a:t>
            </a:r>
            <a:br/>
            <a:r>
              <a:t>3. Appreciate Your Own Company: You are a whole and worthy person just as you are.</a:t>
            </a:r>
          </a:p>
          <a:p>
            <a:pPr>
              <a:spcBef>
                <a:spcPts val="1400"/>
              </a:spcBef>
              <a:defRPr sz="1200" b="1">
                <a:solidFill>
                  <a:srgbClr val="881337"/>
                </a:solidFill>
              </a:defRPr>
            </a:pPr>
            <a:r>
              <a:t>🌱 DAILY REMINDER:</a:t>
            </a:r>
            <a:br/>
            <a:r>
              <a:t>Solitude is not emptiness; it is a sacred space where your soul catches its breath.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a:spAutoFit/>
          </a:bodyPr>
          <a:lstStyle/>
          <a:p>
            <a:pPr>
              <a:defRPr sz="1100" b="1">
                <a:solidFill>
                  <a:srgbClr val="C2410C"/>
                </a:solidFill>
              </a:defRPr>
            </a:pPr>
            <a:r>
              <a:t>MODULE 7 • WARM ORANGE — OVERCOMING COMPARISON &amp; FINDING YOUR PATH</a:t>
            </a:r>
          </a:p>
          <a:p>
            <a:pPr>
              <a:defRPr sz="2200" b="1">
                <a:solidFill>
                  <a:srgbClr val="0F172A"/>
                </a:solidFill>
                <a:latin typeface="Georgia"/>
              </a:defRPr>
            </a:pPr>
            <a:r>
              <a:t>Living Your Own Life (Escaping Comparison)</a:t>
            </a:r>
          </a:p>
        </p:txBody>
      </p:sp>
      <p:sp>
        <p:nvSpPr>
          <p:cNvPr id="4" name="Rounded Rectangle 3"/>
          <p:cNvSpPr/>
          <p:nvPr/>
        </p:nvSpPr>
        <p:spPr>
          <a:xfrm>
            <a:off x="731520" y="1508760"/>
            <a:ext cx="5120640" cy="4892040"/>
          </a:xfrm>
          <a:prstGeom prst="roundRect">
            <a:avLst/>
          </a:prstGeom>
          <a:solidFill>
            <a:srgbClr val="FFFFFF"/>
          </a:solidFill>
          <a:ln w="1905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C2410C"/>
                </a:solidFill>
              </a:defRPr>
            </a:pPr>
            <a:r>
              <a:t>BHAGAVAD GITA 3.35 &amp; 18.47</a:t>
            </a:r>
          </a:p>
          <a:p>
            <a:pPr>
              <a:spcBef>
                <a:spcPts val="400"/>
              </a:spcBef>
              <a:defRPr sz="1200" b="1">
                <a:solidFill>
                  <a:srgbClr val="881337"/>
                </a:solidFill>
              </a:defRPr>
            </a:pPr>
            <a:r>
              <a:t>श्रेयान्स्वधर्मो विगुणः परधर्मात्स्वनुष्ठितात् ।</a:t>
            </a:r>
            <a:br/>
            <a:r>
              <a:t>स्वधर्मे निधनं श्रेयः परधर्मो भयावहः ॥</a:t>
            </a:r>
          </a:p>
          <a:p>
            <a:pPr>
              <a:spcBef>
                <a:spcPts val="400"/>
              </a:spcBef>
              <a:defRPr sz="1100" i="1">
                <a:solidFill>
                  <a:srgbClr val="881337"/>
                </a:solidFill>
              </a:defRPr>
            </a:pPr>
            <a:r>
              <a:t>śreyān sva-dharmo viguṇaḥ para-dharmāt sv-anuṣṭhitāt ||</a:t>
            </a:r>
            <a:br/>
            <a:r>
              <a:t>sva-dharme nidhanaṁ śreyaḥ para-dharmo bhayāvahaḥ ||</a:t>
            </a:r>
          </a:p>
          <a:p>
            <a:pPr>
              <a:spcBef>
                <a:spcPts val="400"/>
              </a:spcBef>
              <a:defRPr sz="950">
                <a:solidFill>
                  <a:srgbClr val="64748B"/>
                </a:solidFill>
              </a:defRPr>
            </a:pPr>
            <a:r>
              <a:t>Everyday Meaning: It is far better to live your own natural life imperfectly than to live an imitation of someone else's life. Walking your own true path brings peace, while living for others' approval brings anxiety.</a:t>
            </a:r>
          </a:p>
          <a:p>
            <a:pPr>
              <a:spcBef>
                <a:spcPts val="600"/>
              </a:spcBef>
              <a:defRPr sz="1100" b="1">
                <a:solidFill>
                  <a:srgbClr val="B45309"/>
                </a:solidFill>
              </a:defRPr>
            </a:pPr>
            <a:r>
              <a:t>Key Insight: Escaping Social Comparison &amp; Finding Authenticity</a:t>
            </a:r>
          </a:p>
          <a:p>
            <a:pPr>
              <a:spcBef>
                <a:spcPts val="400"/>
              </a:spcBef>
              <a:defRPr sz="1000">
                <a:solidFill>
                  <a:srgbClr val="334155"/>
                </a:solidFill>
              </a:defRPr>
            </a:pPr>
            <a:r>
              <a:t>When you look at social media or listen to gossip, you only see other people's curated highlights. You don't see their hidden struggles, tears, or worries. Comparing your real daily life to someone else's highlight reel is a recipe for misery.</a:t>
            </a:r>
          </a:p>
        </p:txBody>
      </p:sp>
      <p:sp>
        <p:nvSpPr>
          <p:cNvPr id="5" name="Rounded Rectangle 4"/>
          <p:cNvSpPr/>
          <p:nvPr/>
        </p:nvSpPr>
        <p:spPr>
          <a:xfrm>
            <a:off x="6217920" y="1508760"/>
            <a:ext cx="5212080" cy="48920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B45309"/>
                </a:solidFill>
              </a:defRPr>
            </a:pPr>
            <a:r>
              <a:t>SIMPLE DAILY PRACTICE</a:t>
            </a:r>
          </a:p>
          <a:p>
            <a:pPr>
              <a:spcBef>
                <a:spcPts val="800"/>
              </a:spcBef>
              <a:defRPr sz="1100">
                <a:solidFill>
                  <a:srgbClr val="334155"/>
                </a:solidFill>
              </a:defRPr>
            </a:pPr>
            <a:r>
              <a:t>The Authentic Living Practice:</a:t>
            </a:r>
            <a:br/>
            <a:r>
              <a:t>1. Put Down the Comparison Glass: Stop wondering what others think of your car, home, or clothes.</a:t>
            </a:r>
            <a:br/>
            <a:r>
              <a:t>2. Value Your Simple Joys: What brings you genuine peace, even if it's not fancy or famous?</a:t>
            </a:r>
            <a:br/>
            <a:r>
              <a:t>3. Honor Your Unique Gifts: Everyone has different talents—some build, some care, some listen.</a:t>
            </a:r>
          </a:p>
          <a:p>
            <a:pPr>
              <a:spcBef>
                <a:spcPts val="1400"/>
              </a:spcBef>
              <a:defRPr sz="1200" b="1">
                <a:solidFill>
                  <a:srgbClr val="881337"/>
                </a:solidFill>
              </a:defRPr>
            </a:pPr>
            <a:r>
              <a:t>🌱 DAILY REMINDER:</a:t>
            </a:r>
            <a:br/>
            <a:r>
              <a:t>Flowers do not compete with the flower next to them. They just bloom. Bloom in your own way.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a:spAutoFit/>
          </a:bodyPr>
          <a:lstStyle/>
          <a:p>
            <a:pPr>
              <a:defRPr sz="1100" b="1">
                <a:solidFill>
                  <a:srgbClr val="C2410C"/>
                </a:solidFill>
              </a:defRPr>
            </a:pPr>
            <a:r>
              <a:t>MODULE 7 • WARM ORANGE — OVERCOMING COMPARISON &amp; FINDING YOUR PATH</a:t>
            </a:r>
          </a:p>
          <a:p>
            <a:pPr>
              <a:defRPr sz="2200" b="1">
                <a:solidFill>
                  <a:srgbClr val="0F172A"/>
                </a:solidFill>
                <a:latin typeface="Georgia"/>
              </a:defRPr>
            </a:pPr>
            <a:r>
              <a:t>Contentment with What You Have</a:t>
            </a:r>
          </a:p>
        </p:txBody>
      </p:sp>
      <p:sp>
        <p:nvSpPr>
          <p:cNvPr id="4" name="Rounded Rectangle 3"/>
          <p:cNvSpPr/>
          <p:nvPr/>
        </p:nvSpPr>
        <p:spPr>
          <a:xfrm>
            <a:off x="731520" y="1508760"/>
            <a:ext cx="5120640" cy="4892040"/>
          </a:xfrm>
          <a:prstGeom prst="roundRect">
            <a:avLst/>
          </a:prstGeom>
          <a:solidFill>
            <a:srgbClr val="FFFFFF"/>
          </a:solidFill>
          <a:ln w="19050">
            <a:solidFill>
              <a:srgbClr val="C2410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C2410C"/>
                </a:solidFill>
              </a:defRPr>
            </a:pPr>
            <a:r>
              <a:t>BHAGAVAD GITA 4.22 &amp; 18.45</a:t>
            </a:r>
          </a:p>
          <a:p>
            <a:pPr>
              <a:spcBef>
                <a:spcPts val="400"/>
              </a:spcBef>
              <a:defRPr sz="1200" b="1">
                <a:solidFill>
                  <a:srgbClr val="881337"/>
                </a:solidFill>
              </a:defRPr>
            </a:pPr>
            <a:r>
              <a:t>यदृच्छालाभसन्तुष्टो द्वन्द्वातीतो विमत्सरः ।</a:t>
            </a:r>
            <a:br/>
            <a:r>
              <a:t>स्वे स्वे कर्मण्यभिरतः संसिद्धिं लभते नरः ॥</a:t>
            </a:r>
          </a:p>
          <a:p>
            <a:pPr>
              <a:spcBef>
                <a:spcPts val="400"/>
              </a:spcBef>
              <a:defRPr sz="1100" i="1">
                <a:solidFill>
                  <a:srgbClr val="881337"/>
                </a:solidFill>
              </a:defRPr>
            </a:pPr>
            <a:r>
              <a:t>yadṛcchā-lābha-santuṣṭo dvandvātīto vimatsaraḥ ||</a:t>
            </a:r>
            <a:br/>
            <a:r>
              <a:t>sve sve karmaṇy abhirataḥ saṁsiddhiṁ labhate naraḥ ||</a:t>
            </a:r>
          </a:p>
          <a:p>
            <a:pPr>
              <a:spcBef>
                <a:spcPts val="400"/>
              </a:spcBef>
              <a:defRPr sz="950">
                <a:solidFill>
                  <a:srgbClr val="64748B"/>
                </a:solidFill>
              </a:defRPr>
            </a:pPr>
            <a:r>
              <a:t>Everyday Meaning: One who is content with what comes naturally, free from jealousy, and steady through life's dualities achieves deep peace. By wholehearted devotion to your daily work, you reach true fulfillment.</a:t>
            </a:r>
          </a:p>
          <a:p>
            <a:pPr>
              <a:spcBef>
                <a:spcPts val="600"/>
              </a:spcBef>
              <a:defRPr sz="1100" b="1">
                <a:solidFill>
                  <a:srgbClr val="B45309"/>
                </a:solidFill>
              </a:defRPr>
            </a:pPr>
            <a:r>
              <a:t>Key Insight: Appreciating Your Everyday Life</a:t>
            </a:r>
          </a:p>
          <a:p>
            <a:pPr>
              <a:spcBef>
                <a:spcPts val="400"/>
              </a:spcBef>
              <a:defRPr sz="1000">
                <a:solidFill>
                  <a:srgbClr val="334155"/>
                </a:solidFill>
              </a:defRPr>
            </a:pPr>
            <a:r>
              <a:t>The secret to wealth is not having everything in the world, but wanting less and enjoying what you already possess. A modest home filled with laughter is richer than a palace filled with bitterness.</a:t>
            </a:r>
          </a:p>
        </p:txBody>
      </p:sp>
      <p:sp>
        <p:nvSpPr>
          <p:cNvPr id="5" name="Rounded Rectangle 4"/>
          <p:cNvSpPr/>
          <p:nvPr/>
        </p:nvSpPr>
        <p:spPr>
          <a:xfrm>
            <a:off x="6217920" y="1508760"/>
            <a:ext cx="5212080" cy="48920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B45309"/>
                </a:solidFill>
              </a:defRPr>
            </a:pPr>
            <a:r>
              <a:t>SIMPLE DAILY PRACTICE</a:t>
            </a:r>
          </a:p>
          <a:p>
            <a:pPr>
              <a:spcBef>
                <a:spcPts val="800"/>
              </a:spcBef>
              <a:defRPr sz="1100">
                <a:solidFill>
                  <a:srgbClr val="334155"/>
                </a:solidFill>
              </a:defRPr>
            </a:pPr>
            <a:r>
              <a:t>The Contentment Practice:</a:t>
            </a:r>
            <a:br/>
            <a:r>
              <a:t>1. The Daily 'Enough' Check: Remind yourself of the essentials you have: food, shelter, air, life.</a:t>
            </a:r>
            <a:br/>
            <a:r>
              <a:t>2. Rejoice in Others' Joy: When a neighbor or friend succeeds, smile and be happy for them.</a:t>
            </a:r>
            <a:br/>
            <a:r>
              <a:t>3. Take Pride in Honest Work: Whether sweeping a floor or managing an office, do it with love.</a:t>
            </a:r>
          </a:p>
          <a:p>
            <a:pPr>
              <a:spcBef>
                <a:spcPts val="1400"/>
              </a:spcBef>
              <a:defRPr sz="1200" b="1">
                <a:solidFill>
                  <a:srgbClr val="881337"/>
                </a:solidFill>
              </a:defRPr>
            </a:pPr>
            <a:r>
              <a:t>🌱 DAILY REMINDER:</a:t>
            </a:r>
            <a:br/>
            <a:r>
              <a:t>Gratitude turns what we have into enough, and more.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a:spAutoFit/>
          </a:bodyPr>
          <a:lstStyle/>
          <a:p>
            <a:pPr>
              <a:defRPr sz="1100" b="1">
                <a:solidFill>
                  <a:srgbClr val="BE185D"/>
                </a:solidFill>
              </a:defRPr>
            </a:pPr>
            <a:r>
              <a:t>MODULE 8 • ROSE PINK — GRATITUDE, JOY &amp; EVERYDAY BLESSINGS</a:t>
            </a:r>
          </a:p>
          <a:p>
            <a:pPr>
              <a:defRPr sz="2200" b="1">
                <a:solidFill>
                  <a:srgbClr val="0F172A"/>
                </a:solidFill>
                <a:latin typeface="Georgia"/>
              </a:defRPr>
            </a:pPr>
            <a:r>
              <a:t>Finding Wonder in Ordinary Days</a:t>
            </a:r>
          </a:p>
        </p:txBody>
      </p:sp>
      <p:sp>
        <p:nvSpPr>
          <p:cNvPr id="4" name="Rounded Rectangle 3"/>
          <p:cNvSpPr/>
          <p:nvPr/>
        </p:nvSpPr>
        <p:spPr>
          <a:xfrm>
            <a:off x="731520" y="1508760"/>
            <a:ext cx="5120640" cy="4892040"/>
          </a:xfrm>
          <a:prstGeom prst="roundRect">
            <a:avLst/>
          </a:prstGeom>
          <a:solidFill>
            <a:srgbClr val="FFFFFF"/>
          </a:solidFill>
          <a:ln w="19050">
            <a:solidFill>
              <a:srgbClr val="BE185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BE185D"/>
                </a:solidFill>
              </a:defRPr>
            </a:pPr>
            <a:r>
              <a:t>BHAGAVAD GITA 2.55 &amp; 7.8 &amp; 10.20</a:t>
            </a:r>
          </a:p>
          <a:p>
            <a:pPr>
              <a:spcBef>
                <a:spcPts val="400"/>
              </a:spcBef>
              <a:defRPr sz="1200" b="1">
                <a:solidFill>
                  <a:srgbClr val="881337"/>
                </a:solidFill>
              </a:defRPr>
            </a:pPr>
            <a:r>
              <a:t>आत्मन्येवात्मना तुष्टः स्थितप्रज्ञस्तदोच्यते ।</a:t>
            </a:r>
            <a:br/>
            <a:r>
              <a:t>रसोऽहमप्सु कौन्तेय प्रभास्मि शशिसूर्ययोः ॥</a:t>
            </a:r>
            <a:br/>
            <a:r>
              <a:t>अहमात्मा गुडाकेश सर्वभूताशयस्थितः ॥</a:t>
            </a:r>
          </a:p>
          <a:p>
            <a:pPr>
              <a:spcBef>
                <a:spcPts val="400"/>
              </a:spcBef>
              <a:defRPr sz="1100" i="1">
                <a:solidFill>
                  <a:srgbClr val="881337"/>
                </a:solidFill>
              </a:defRPr>
            </a:pPr>
            <a:r>
              <a:t>ātmany evātmanā tuṣṭaḥ sthita-prajñas tadocyate ||</a:t>
            </a:r>
            <a:br/>
            <a:r>
              <a:t>raso 'ham apsu kaunteya prabhāsmi śaśi-sūryayoḥ ||</a:t>
            </a:r>
            <a:br/>
            <a:r>
              <a:t>aham ātmā guḍākeśa sarva-bhūtāśaya-sthitaḥ ||</a:t>
            </a:r>
          </a:p>
          <a:p>
            <a:pPr>
              <a:spcBef>
                <a:spcPts val="400"/>
              </a:spcBef>
              <a:defRPr sz="950">
                <a:solidFill>
                  <a:srgbClr val="64748B"/>
                </a:solidFill>
              </a:defRPr>
            </a:pPr>
            <a:r>
              <a:t>Everyday Meaning: One who finds contentment within their own heart is established in wisdom. I am the pure taste in water, the gentle light of the sun and moon, and the life living in the heart of all beings.</a:t>
            </a:r>
          </a:p>
          <a:p>
            <a:pPr>
              <a:spcBef>
                <a:spcPts val="600"/>
              </a:spcBef>
              <a:defRPr sz="1100" b="1">
                <a:solidFill>
                  <a:srgbClr val="B45309"/>
                </a:solidFill>
              </a:defRPr>
            </a:pPr>
            <a:r>
              <a:t>Key Insight: Everyday Mindfulness &amp; Finding Wonder in Life</a:t>
            </a:r>
          </a:p>
          <a:p>
            <a:pPr>
              <a:spcBef>
                <a:spcPts val="400"/>
              </a:spcBef>
              <a:defRPr sz="1000">
                <a:solidFill>
                  <a:srgbClr val="334155"/>
                </a:solidFill>
              </a:defRPr>
            </a:pPr>
            <a:r>
              <a:t>Happiness is not waiting for you at the end of a 10-year goal; happiness is available right now in the taste of fresh water, a gentle breeze, a warm blanket, a good book, or a child's smile.</a:t>
            </a:r>
          </a:p>
        </p:txBody>
      </p:sp>
      <p:sp>
        <p:nvSpPr>
          <p:cNvPr id="5" name="Rounded Rectangle 4"/>
          <p:cNvSpPr/>
          <p:nvPr/>
        </p:nvSpPr>
        <p:spPr>
          <a:xfrm>
            <a:off x="6217920" y="1508760"/>
            <a:ext cx="5212080" cy="48920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B45309"/>
                </a:solidFill>
              </a:defRPr>
            </a:pPr>
            <a:r>
              <a:t>SIMPLE DAILY PRACTICE</a:t>
            </a:r>
          </a:p>
          <a:p>
            <a:pPr>
              <a:spcBef>
                <a:spcPts val="800"/>
              </a:spcBef>
              <a:defRPr sz="1100">
                <a:solidFill>
                  <a:srgbClr val="334155"/>
                </a:solidFill>
              </a:defRPr>
            </a:pPr>
            <a:r>
              <a:t>The 3 Blessings Practice:</a:t>
            </a:r>
            <a:br/>
            <a:r>
              <a:t>1. Morning Gratitude: Name 3 simple things you are grateful for as soon as you wake up.</a:t>
            </a:r>
            <a:br/>
            <a:r>
              <a:t>2. Savor Your Food: Eat your meals without watching screens; taste every bite with appreciation.</a:t>
            </a:r>
            <a:br/>
            <a:r>
              <a:t>3. Give Thanks: Say a heartfelt 'thank you' to someone who helps you today.</a:t>
            </a:r>
          </a:p>
          <a:p>
            <a:pPr>
              <a:spcBef>
                <a:spcPts val="1400"/>
              </a:spcBef>
              <a:defRPr sz="1200" b="1">
                <a:solidFill>
                  <a:srgbClr val="881337"/>
                </a:solidFill>
              </a:defRPr>
            </a:pPr>
            <a:r>
              <a:t>🌱 DAILY REMINDER:</a:t>
            </a:r>
            <a:br/>
            <a:r>
              <a:t>You don't need a miracle to feel blessed. Being alive and breathing is the miracle.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a:spAutoFit/>
          </a:bodyPr>
          <a:lstStyle/>
          <a:p>
            <a:pPr>
              <a:defRPr sz="1100" b="1">
                <a:solidFill>
                  <a:srgbClr val="BE185D"/>
                </a:solidFill>
              </a:defRPr>
            </a:pPr>
            <a:r>
              <a:t>MODULE 8 • ROSE PINK — GRATITUDE, JOY &amp; EVERYDAY BLESSINGS</a:t>
            </a:r>
          </a:p>
          <a:p>
            <a:pPr>
              <a:defRPr sz="2200" b="1">
                <a:solidFill>
                  <a:srgbClr val="0F172A"/>
                </a:solidFill>
                <a:latin typeface="Georgia"/>
              </a:defRPr>
            </a:pPr>
            <a:r>
              <a:t>Walking Forward with Hope and Trust</a:t>
            </a:r>
          </a:p>
        </p:txBody>
      </p:sp>
      <p:sp>
        <p:nvSpPr>
          <p:cNvPr id="4" name="Rounded Rectangle 3"/>
          <p:cNvSpPr/>
          <p:nvPr/>
        </p:nvSpPr>
        <p:spPr>
          <a:xfrm>
            <a:off x="731520" y="1508760"/>
            <a:ext cx="5120640" cy="4892040"/>
          </a:xfrm>
          <a:prstGeom prst="roundRect">
            <a:avLst/>
          </a:prstGeom>
          <a:solidFill>
            <a:srgbClr val="FFFFFF"/>
          </a:solidFill>
          <a:ln w="19050">
            <a:solidFill>
              <a:srgbClr val="BE185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BE185D"/>
                </a:solidFill>
              </a:defRPr>
            </a:pPr>
            <a:r>
              <a:t>BHAGAVAD GITA 18.78 &amp; 18.63</a:t>
            </a:r>
          </a:p>
          <a:p>
            <a:pPr>
              <a:spcBef>
                <a:spcPts val="400"/>
              </a:spcBef>
              <a:defRPr sz="1200" b="1">
                <a:solidFill>
                  <a:srgbClr val="881337"/>
                </a:solidFill>
              </a:defRPr>
            </a:pPr>
            <a:r>
              <a:t>यत्र योगेश्वरः कृष्णो यत्र पार्थो धनुर्धरः । तत्र श्रीर्विजयो भूतिर्ध्रुवा नीतिर्मतिर्मम ॥</a:t>
            </a:r>
            <a:br/>
            <a:r>
              <a:t>विमृश्यैतदशेषेण यथेच्छसि तथा कुरु ॥</a:t>
            </a:r>
            <a:br/>
            <a:r>
              <a:t>ॐ तत्सत् ॥</a:t>
            </a:r>
          </a:p>
          <a:p>
            <a:pPr>
              <a:spcBef>
                <a:spcPts val="400"/>
              </a:spcBef>
              <a:defRPr sz="1100" i="1">
                <a:solidFill>
                  <a:srgbClr val="881337"/>
                </a:solidFill>
              </a:defRPr>
            </a:pPr>
            <a:r>
              <a:t>yatra yogeśvaraḥ kṛṣṇo yatra pārtho dhanur-dharaḥ | tatra śrīr vijayo bhūtir dhruvā nītir matir mama ||</a:t>
            </a:r>
            <a:br/>
            <a:r>
              <a:t>vimṛśyaitad aśeṣeṇa yathecchasi tathā kuru || oṁ tat sat ||</a:t>
            </a:r>
          </a:p>
          <a:p>
            <a:pPr>
              <a:spcBef>
                <a:spcPts val="400"/>
              </a:spcBef>
              <a:defRPr sz="950">
                <a:solidFill>
                  <a:srgbClr val="64748B"/>
                </a:solidFill>
              </a:defRPr>
            </a:pPr>
            <a:r>
              <a:t>Everyday Meaning: Wherever there is wise understanding and sincere daily action, there victory, peace, and goodness are steadfast. Reflect deeply on this wisdom, and then live your life with freedom, dignity, and love. Om Tat Sat.</a:t>
            </a:r>
          </a:p>
          <a:p>
            <a:pPr>
              <a:spcBef>
                <a:spcPts val="600"/>
              </a:spcBef>
              <a:defRPr sz="1100" b="1">
                <a:solidFill>
                  <a:srgbClr val="B45309"/>
                </a:solidFill>
              </a:defRPr>
            </a:pPr>
            <a:r>
              <a:t>Key Insight: Peaceful Confidence in Daily Living</a:t>
            </a:r>
          </a:p>
          <a:p>
            <a:pPr>
              <a:spcBef>
                <a:spcPts val="400"/>
              </a:spcBef>
              <a:defRPr sz="1000">
                <a:solidFill>
                  <a:srgbClr val="334155"/>
                </a:solidFill>
              </a:defRPr>
            </a:pPr>
            <a:r>
              <a:t>You have within you everything needed to live a good, meaningful, and loving life. Trust yourself. When you fall, stand up gently. When you are tired, rest. And always remember to walk forward with a kind heart.</a:t>
            </a:r>
          </a:p>
        </p:txBody>
      </p:sp>
      <p:sp>
        <p:nvSpPr>
          <p:cNvPr id="5" name="Rounded Rectangle 4"/>
          <p:cNvSpPr/>
          <p:nvPr/>
        </p:nvSpPr>
        <p:spPr>
          <a:xfrm>
            <a:off x="6217920" y="1508760"/>
            <a:ext cx="5212080" cy="4892040"/>
          </a:xfrm>
          <a:prstGeom prst="round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B45309"/>
                </a:solidFill>
              </a:defRPr>
            </a:pPr>
            <a:r>
              <a:t>SIMPLE DAILY PRACTICE</a:t>
            </a:r>
          </a:p>
          <a:p>
            <a:pPr>
              <a:spcBef>
                <a:spcPts val="800"/>
              </a:spcBef>
              <a:defRPr sz="1100">
                <a:solidFill>
                  <a:srgbClr val="334155"/>
                </a:solidFill>
              </a:defRPr>
            </a:pPr>
            <a:r>
              <a:t>The Daily Living Promise:</a:t>
            </a:r>
            <a:br/>
            <a:r>
              <a:t>1. Choose Kindness: Treat every person you meet with dignity.</a:t>
            </a:r>
            <a:br/>
            <a:r>
              <a:t>2. Do Your Part: Take one honest step forward each day.</a:t>
            </a:r>
            <a:br/>
            <a:r>
              <a:t>3. Trust the Journey: Life has carried you this far; it will carry you through tomorrow too.</a:t>
            </a:r>
          </a:p>
          <a:p>
            <a:pPr>
              <a:spcBef>
                <a:spcPts val="1400"/>
              </a:spcBef>
              <a:defRPr sz="1200" b="1">
                <a:solidFill>
                  <a:srgbClr val="881337"/>
                </a:solidFill>
              </a:defRPr>
            </a:pPr>
            <a:r>
              <a:t>🌱 DAILY REMINDER:</a:t>
            </a:r>
            <a:br/>
            <a:r>
              <a:t>Walk with a calm mind, an open heart, and gentle courage. All is well.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Universal Wisdom for Daily Living</dc:title>
  <dc:subject>Everyday Philosophy, Mindfulness &amp; Inner Calm</dc:subject>
  <dc:creator>Universal Wisdom Project</dc:creator>
  <cp:keywords>Bhagavad Gita, Mindfulness, Stoicism, Peace, Wisdom</cp:keywords>
  <dc:description>Open educational resource for personal reflection and well-being.</dc:description>
  <cp:lastModifiedBy>Universal Wisdom Project</cp:lastModifiedBy>
  <cp:revision>1</cp:revision>
  <dcterms:created xsi:type="dcterms:W3CDTF">2013-01-27T09:14:16Z</dcterms:created>
  <dcterms:modified xsi:type="dcterms:W3CDTF">2013-01-27T09:15:58Z</dcterms:modified>
  <cp:category/>
</cp:coreProperties>
</file>